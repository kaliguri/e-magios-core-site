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375" r:id="rId2"/>
    <p:sldId id="381" r:id="rId3"/>
    <p:sldId id="412" r:id="rId4"/>
    <p:sldId id="391" r:id="rId5"/>
    <p:sldId id="390" r:id="rId6"/>
    <p:sldId id="385" r:id="rId7"/>
    <p:sldId id="403" r:id="rId8"/>
    <p:sldId id="411" r:id="rId9"/>
    <p:sldId id="413" r:id="rId10"/>
    <p:sldId id="389" r:id="rId11"/>
    <p:sldId id="384" r:id="rId12"/>
    <p:sldId id="415" r:id="rId13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906E"/>
    <a:srgbClr val="E63246"/>
    <a:srgbClr val="55B432"/>
    <a:srgbClr val="874BA0"/>
    <a:srgbClr val="4B6EB9"/>
    <a:srgbClr val="305DBE"/>
    <a:srgbClr val="4B93E3"/>
    <a:srgbClr val="6B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2430" autoAdjust="0"/>
  </p:normalViewPr>
  <p:slideViewPr>
    <p:cSldViewPr>
      <p:cViewPr varScale="1">
        <p:scale>
          <a:sx n="113" d="100"/>
          <a:sy n="113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09.06.2026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580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6735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31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разработке будут использованы следующие инструментальные средства (устно проговариваете почему)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374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87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7857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187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Видео демо. Комментируете.</a:t>
            </a:r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515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D8B31-06E9-46D3-AAFA-52D3CA6C5A17}"/>
              </a:ext>
            </a:extLst>
          </p:cNvPr>
          <p:cNvSpPr/>
          <p:nvPr/>
        </p:nvSpPr>
        <p:spPr>
          <a:xfrm>
            <a:off x="1547664" y="116632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«Московский политехнический университет»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8BA12-E3B0-41D9-A987-AAEE28952C8B}"/>
              </a:ext>
            </a:extLst>
          </p:cNvPr>
          <p:cNvSpPr txBox="1"/>
          <p:nvPr/>
        </p:nvSpPr>
        <p:spPr>
          <a:xfrm>
            <a:off x="827584" y="1844824"/>
            <a:ext cx="5976664" cy="927686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Разработка сайта для </a:t>
            </a:r>
          </a:p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настольно-ролевой игры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99B0B-F466-41B6-8460-A62C45E458C0}"/>
              </a:ext>
            </a:extLst>
          </p:cNvPr>
          <p:cNvSpPr txBox="1"/>
          <p:nvPr/>
        </p:nvSpPr>
        <p:spPr>
          <a:xfrm>
            <a:off x="899594" y="4365104"/>
            <a:ext cx="4023914" cy="92768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lvl="0"/>
            <a:r>
              <a:rPr lang="ru-RU" sz="1400" dirty="0"/>
              <a:t>Автор: Гайдарь Максим Денисович</a:t>
            </a:r>
          </a:p>
          <a:p>
            <a:pPr lvl="0"/>
            <a:r>
              <a:rPr lang="ru-RU" sz="1400" dirty="0"/>
              <a:t>Студент группы 221-3711</a:t>
            </a:r>
          </a:p>
          <a:p>
            <a:pPr lvl="0"/>
            <a:r>
              <a:rPr lang="ru-RU" sz="1400" dirty="0"/>
              <a:t>Дипломный руководитель: Кандрашина М. А. </a:t>
            </a:r>
          </a:p>
          <a:p>
            <a:pPr lvl="0"/>
            <a:r>
              <a:rPr lang="ru-RU" sz="1400" dirty="0"/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</a:t>
            </a:r>
            <a:r>
              <a:rPr lang="en-US" sz="1800" b="1" dirty="0">
                <a:solidFill>
                  <a:srgbClr val="4B6EB9"/>
                </a:solidFill>
                <a:cs typeface="Arial"/>
              </a:rPr>
              <a:t> </a:t>
            </a:r>
            <a:r>
              <a:rPr lang="ru-RU" sz="1800" b="1" dirty="0">
                <a:solidFill>
                  <a:srgbClr val="4B6EB9"/>
                </a:solidFill>
                <a:cs typeface="Arial"/>
              </a:rPr>
              <a:t>и новизна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2</a:t>
            </a:fld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24" y="1445568"/>
            <a:ext cx="5688630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sz="1800" b="1" dirty="0"/>
              <a:t>Объект: </a:t>
            </a:r>
            <a:r>
              <a:rPr lang="ru-RU" sz="1800" dirty="0"/>
              <a:t>процесс цифровой поддержки настольной ролевой системы </a:t>
            </a:r>
            <a:r>
              <a:rPr lang="ru-RU" sz="1800" dirty="0" err="1"/>
              <a:t>E'Magios</a:t>
            </a:r>
            <a:r>
              <a:rPr lang="ru-RU" sz="1800" dirty="0"/>
              <a:t> Core.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1" dirty="0"/>
              <a:t>Предмет: </a:t>
            </a:r>
            <a:r>
              <a:rPr lang="ru-RU" sz="1800" dirty="0"/>
              <a:t>веб-платформа для хранения, поиска и использования правил, справочников и пользовательских персонажей.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1" dirty="0"/>
              <a:t>Актуальность: </a:t>
            </a:r>
            <a:r>
              <a:rPr lang="ru-RU" sz="1800" dirty="0"/>
              <a:t>настольная ролевая система содержит большой объём правил, заклинаний и данных персонажей. Веб-платформа упрощает поиск информации, ведение персонажей и обеспечивает облачный доступ с разных устройств.</a:t>
            </a:r>
            <a:endParaRPr lang="ru-RU" altLang="ru-RU" sz="1800" dirty="0">
              <a:cs typeface="Arial"/>
            </a:endParaRPr>
          </a:p>
        </p:txBody>
      </p:sp>
      <p:pic>
        <p:nvPicPr>
          <p:cNvPr id="1026" name="Picture 2" descr="Иллюстрация броска кубика D20 с критическим ударом 20 Иллюстрация вектора -  иллюстрации насчитывающей тип, удачливейше: 180586279">
            <a:extLst>
              <a:ext uri="{FF2B5EF4-FFF2-40B4-BE49-F238E27FC236}">
                <a16:creationId xmlns:a16="http://schemas.microsoft.com/office/drawing/2014/main" id="{AFD771CB-B809-47D2-96C5-EFF9F070B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32756"/>
            <a:ext cx="2448273" cy="244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8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 и новизна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F9E584-E221-40BE-A38F-74A24485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988839"/>
            <a:ext cx="4758644" cy="37614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FC695A-6C48-4156-9086-06533267B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65" y="1993030"/>
            <a:ext cx="4135262" cy="20995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6B1364A-5FAA-481B-93A9-D7DD4480F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64" y="4092574"/>
            <a:ext cx="3090228" cy="241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6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7030A0"/>
                </a:solidFill>
                <a:cs typeface="Arial"/>
              </a:rPr>
              <a:t>Цель и задачи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4</a:t>
            </a:fld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ru-RU" altLang="ru-RU" sz="1800" b="1" dirty="0">
                <a:cs typeface="Arial"/>
              </a:rPr>
              <a:t>Цель работы </a:t>
            </a:r>
            <a:r>
              <a:rPr lang="ru-RU" altLang="ru-RU" sz="1800" dirty="0">
                <a:cs typeface="Arial"/>
              </a:rPr>
              <a:t>- разработка многофункционального веб-сайта для поддержки настольной ролевой системы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Core, обеспечивающего удобный доступ к игровому контенту и предоставляющего пользователям интерактивные инструменты для подготовки и сопровождения игрового процесса. 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800" b="1" dirty="0"/>
              <a:t>Задачи: 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Исследование предметной области</a:t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Анализ аналогичных продуктов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Создание парсинга для переноса контента из Obsidian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Проектирование структуры веб-приложения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Разработка веб-сайта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Тестирование</a:t>
            </a: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921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Анализ конкурентов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5</a:t>
            </a:fld>
            <a:endParaRPr lang="ru-RU" dirty="0"/>
          </a:p>
        </p:txBody>
      </p:sp>
      <p:sp>
        <p:nvSpPr>
          <p:cNvPr id="7" name="AutoShape 2" descr="Сравнительная таблица платформ для игр">
            <a:extLst>
              <a:ext uri="{FF2B5EF4-FFF2-40B4-BE49-F238E27FC236}">
                <a16:creationId xmlns:a16="http://schemas.microsoft.com/office/drawing/2014/main" id="{45295387-2F59-4048-9D94-7B2FE14BD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Picture 25" descr="fig_competi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938" y="1926694"/>
            <a:ext cx="6548124" cy="353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1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536192" y="1335024"/>
            <a:ext cx="5138928" cy="4462272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E'Magios Core Site</a:t>
            </a:r>
          </a:p>
        </p:txBody>
      </p:sp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1C906E"/>
                </a:solidFill>
                <a:cs typeface="Arial"/>
              </a:rPr>
              <a:t>Функциональные возможности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6</a:t>
            </a:fld>
            <a:endParaRPr lang="ru-RU" dirty="0"/>
          </a:p>
        </p:txBody>
      </p:sp>
      <p:sp>
        <p:nvSpPr>
          <p:cNvPr id="27" name="Oval 26"/>
          <p:cNvSpPr/>
          <p:nvPr/>
        </p:nvSpPr>
        <p:spPr>
          <a:xfrm>
            <a:off x="1668779" y="1682495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Зайти на сайт</a:t>
            </a:r>
          </a:p>
        </p:txBody>
      </p:sp>
      <p:sp>
        <p:nvSpPr>
          <p:cNvPr id="28" name="Oval 27"/>
          <p:cNvSpPr/>
          <p:nvPr/>
        </p:nvSpPr>
        <p:spPr>
          <a:xfrm>
            <a:off x="1668779" y="2134026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Читать книги</a:t>
            </a:r>
          </a:p>
        </p:txBody>
      </p:sp>
      <p:sp>
        <p:nvSpPr>
          <p:cNvPr id="29" name="Oval 28"/>
          <p:cNvSpPr/>
          <p:nvPr/>
        </p:nvSpPr>
        <p:spPr>
          <a:xfrm>
            <a:off x="1668779" y="2585557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Смотреть новости</a:t>
            </a:r>
          </a:p>
        </p:txBody>
      </p:sp>
      <p:sp>
        <p:nvSpPr>
          <p:cNvPr id="30" name="Oval 29"/>
          <p:cNvSpPr/>
          <p:nvPr/>
        </p:nvSpPr>
        <p:spPr>
          <a:xfrm>
            <a:off x="1668779" y="3037088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Пользоваться БД</a:t>
            </a:r>
          </a:p>
        </p:txBody>
      </p:sp>
      <p:sp>
        <p:nvSpPr>
          <p:cNvPr id="31" name="Oval 30"/>
          <p:cNvSpPr/>
          <p:nvPr/>
        </p:nvSpPr>
        <p:spPr>
          <a:xfrm>
            <a:off x="1668779" y="3488618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Войти через Google</a:t>
            </a:r>
          </a:p>
        </p:txBody>
      </p:sp>
      <p:sp>
        <p:nvSpPr>
          <p:cNvPr id="32" name="Oval 31"/>
          <p:cNvSpPr/>
          <p:nvPr/>
        </p:nvSpPr>
        <p:spPr>
          <a:xfrm>
            <a:off x="1668779" y="3940149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Открыть профиль</a:t>
            </a:r>
          </a:p>
        </p:txBody>
      </p:sp>
      <p:sp>
        <p:nvSpPr>
          <p:cNvPr id="33" name="Oval 32"/>
          <p:cNvSpPr/>
          <p:nvPr/>
        </p:nvSpPr>
        <p:spPr>
          <a:xfrm>
            <a:off x="1668779" y="4391680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Работать с редактором персонажей</a:t>
            </a:r>
          </a:p>
        </p:txBody>
      </p:sp>
      <p:sp>
        <p:nvSpPr>
          <p:cNvPr id="34" name="Oval 33"/>
          <p:cNvSpPr/>
          <p:nvPr/>
        </p:nvSpPr>
        <p:spPr>
          <a:xfrm>
            <a:off x="1668779" y="4843211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Импортировать данные в Cloud Firestore</a:t>
            </a:r>
          </a:p>
        </p:txBody>
      </p:sp>
      <p:sp>
        <p:nvSpPr>
          <p:cNvPr id="35" name="Oval 34"/>
          <p:cNvSpPr/>
          <p:nvPr/>
        </p:nvSpPr>
        <p:spPr>
          <a:xfrm>
            <a:off x="1668779" y="5294741"/>
            <a:ext cx="224028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Подготовить JSON из Obsidian Vault</a:t>
            </a:r>
          </a:p>
        </p:txBody>
      </p:sp>
      <p:sp>
        <p:nvSpPr>
          <p:cNvPr id="36" name="Oval 35"/>
          <p:cNvSpPr/>
          <p:nvPr/>
        </p:nvSpPr>
        <p:spPr>
          <a:xfrm>
            <a:off x="4434840" y="1682495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Искать / фильтровать записи</a:t>
            </a:r>
          </a:p>
        </p:txBody>
      </p:sp>
      <p:sp>
        <p:nvSpPr>
          <p:cNvPr id="37" name="Oval 36"/>
          <p:cNvSpPr/>
          <p:nvPr/>
        </p:nvSpPr>
        <p:spPr>
          <a:xfrm>
            <a:off x="4434840" y="2134026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Открывать карточки записей</a:t>
            </a:r>
          </a:p>
        </p:txBody>
      </p:sp>
      <p:sp>
        <p:nvSpPr>
          <p:cNvPr id="38" name="Oval 37"/>
          <p:cNvSpPr/>
          <p:nvPr/>
        </p:nvSpPr>
        <p:spPr>
          <a:xfrm>
            <a:off x="4434840" y="2585557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Создать персонажа</a:t>
            </a:r>
          </a:p>
        </p:txBody>
      </p:sp>
      <p:sp>
        <p:nvSpPr>
          <p:cNvPr id="39" name="Oval 38"/>
          <p:cNvSpPr/>
          <p:nvPr/>
        </p:nvSpPr>
        <p:spPr>
          <a:xfrm>
            <a:off x="4434840" y="3037088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Редактировать персонажа</a:t>
            </a:r>
          </a:p>
        </p:txBody>
      </p:sp>
      <p:sp>
        <p:nvSpPr>
          <p:cNvPr id="40" name="Oval 39"/>
          <p:cNvSpPr/>
          <p:nvPr/>
        </p:nvSpPr>
        <p:spPr>
          <a:xfrm>
            <a:off x="4434840" y="3488618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Сохранить персонажа</a:t>
            </a:r>
          </a:p>
        </p:txBody>
      </p:sp>
      <p:sp>
        <p:nvSpPr>
          <p:cNvPr id="41" name="Oval 40"/>
          <p:cNvSpPr/>
          <p:nvPr/>
        </p:nvSpPr>
        <p:spPr>
          <a:xfrm>
            <a:off x="4434840" y="3940149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Загрузить персонажа</a:t>
            </a:r>
          </a:p>
        </p:txBody>
      </p:sp>
      <p:sp>
        <p:nvSpPr>
          <p:cNvPr id="42" name="Oval 41"/>
          <p:cNvSpPr/>
          <p:nvPr/>
        </p:nvSpPr>
        <p:spPr>
          <a:xfrm>
            <a:off x="4434840" y="4391680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Удалить персонажа</a:t>
            </a:r>
          </a:p>
        </p:txBody>
      </p:sp>
      <p:sp>
        <p:nvSpPr>
          <p:cNvPr id="43" name="Oval 42"/>
          <p:cNvSpPr/>
          <p:nvPr/>
        </p:nvSpPr>
        <p:spPr>
          <a:xfrm>
            <a:off x="4434840" y="4843211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Экспортировать персонажа</a:t>
            </a:r>
          </a:p>
        </p:txBody>
      </p:sp>
      <p:sp>
        <p:nvSpPr>
          <p:cNvPr id="44" name="Oval 43"/>
          <p:cNvSpPr/>
          <p:nvPr/>
        </p:nvSpPr>
        <p:spPr>
          <a:xfrm>
            <a:off x="4434840" y="5294741"/>
            <a:ext cx="210312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Импортировать персонажа</a:t>
            </a:r>
          </a:p>
        </p:txBody>
      </p:sp>
      <p:sp>
        <p:nvSpPr>
          <p:cNvPr id="45" name="Oval 44"/>
          <p:cNvSpPr/>
          <p:nvPr/>
        </p:nvSpPr>
        <p:spPr>
          <a:xfrm>
            <a:off x="676656" y="241182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777240" y="2612989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76072" y="2695285"/>
            <a:ext cx="40233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12647" y="2923885"/>
            <a:ext cx="164593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77240" y="2923885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19" y="3161629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Гость</a:t>
            </a:r>
          </a:p>
        </p:txBody>
      </p:sp>
      <p:sp>
        <p:nvSpPr>
          <p:cNvPr id="51" name="Oval 50"/>
          <p:cNvSpPr/>
          <p:nvPr/>
        </p:nvSpPr>
        <p:spPr>
          <a:xfrm>
            <a:off x="676656" y="399217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77240" y="4193346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76072" y="4275642"/>
            <a:ext cx="40233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612647" y="4504242"/>
            <a:ext cx="164593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7240" y="4504242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19" y="474198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Авторизованный пользователь</a:t>
            </a:r>
          </a:p>
        </p:txBody>
      </p:sp>
      <p:sp>
        <p:nvSpPr>
          <p:cNvPr id="57" name="Oval 56"/>
          <p:cNvSpPr/>
          <p:nvPr/>
        </p:nvSpPr>
        <p:spPr>
          <a:xfrm>
            <a:off x="676656" y="48952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777240" y="5096408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76072" y="5178704"/>
            <a:ext cx="40233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612647" y="5407304"/>
            <a:ext cx="164593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77240" y="5407304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5719" y="56450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Администратор контента</a:t>
            </a:r>
          </a:p>
        </p:txBody>
      </p:sp>
      <p:sp>
        <p:nvSpPr>
          <p:cNvPr id="63" name="Oval 62"/>
          <p:cNvSpPr/>
          <p:nvPr/>
        </p:nvSpPr>
        <p:spPr>
          <a:xfrm>
            <a:off x="7717536" y="21031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818120" y="2304288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616952" y="2386584"/>
            <a:ext cx="40233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7653528" y="2615184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818120" y="2615184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949440" y="285292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Google Auth (внешняя система)</a:t>
            </a:r>
          </a:p>
        </p:txBody>
      </p:sp>
      <p:sp>
        <p:nvSpPr>
          <p:cNvPr id="69" name="Oval 68"/>
          <p:cNvSpPr/>
          <p:nvPr/>
        </p:nvSpPr>
        <p:spPr>
          <a:xfrm>
            <a:off x="7717536" y="365760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7818120" y="3858768"/>
            <a:ext cx="0" cy="31089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616952" y="3941063"/>
            <a:ext cx="40233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7653528" y="4169663"/>
            <a:ext cx="164592" cy="25603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818120" y="4169663"/>
            <a:ext cx="164592" cy="25603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949440" y="440740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Cloud Firestore (внешняя система)</a:t>
            </a:r>
          </a:p>
        </p:txBody>
      </p:sp>
      <p:sp>
        <p:nvSpPr>
          <p:cNvPr id="75" name="Oval 74"/>
          <p:cNvSpPr/>
          <p:nvPr/>
        </p:nvSpPr>
        <p:spPr>
          <a:xfrm>
            <a:off x="7717536" y="51206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818120" y="5321807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16952" y="5404103"/>
            <a:ext cx="40233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7653528" y="5632703"/>
            <a:ext cx="164592" cy="25603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18120" y="5632703"/>
            <a:ext cx="164592" cy="25603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949440" y="587044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Obsidian Vault (внешняя система)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1051560" y="1874519"/>
            <a:ext cx="598931" cy="90306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51560" y="2326050"/>
            <a:ext cx="598931" cy="45153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51560" y="2777581"/>
            <a:ext cx="598931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51560" y="2777581"/>
            <a:ext cx="598931" cy="45153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51560" y="2777581"/>
            <a:ext cx="598931" cy="90306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51560" y="4132173"/>
            <a:ext cx="598931" cy="22576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51560" y="4357938"/>
            <a:ext cx="598931" cy="22576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51560" y="5035235"/>
            <a:ext cx="598931" cy="22576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51560" y="5261000"/>
            <a:ext cx="598931" cy="22576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927348" y="1874519"/>
            <a:ext cx="489204" cy="1354593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760470" y="2341504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000000"/>
                </a:solidFill>
                <a:latin typeface="Arial"/>
              </a:rPr>
              <a:t>«include»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3927348" y="2326050"/>
            <a:ext cx="489204" cy="903062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760470" y="2567269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000000"/>
                </a:solidFill>
                <a:latin typeface="Arial"/>
              </a:rPr>
              <a:t>«include»</a:t>
            </a:r>
          </a:p>
        </p:txBody>
      </p:sp>
      <p:cxnSp>
        <p:nvCxnSpPr>
          <p:cNvPr id="94" name="Connector 93"/>
          <p:cNvCxnSpPr/>
          <p:nvPr/>
        </p:nvCxnSpPr>
        <p:spPr>
          <a:xfrm flipV="1">
            <a:off x="3927348" y="2777581"/>
            <a:ext cx="489204" cy="1806123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927348" y="3229112"/>
            <a:ext cx="489204" cy="1354592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927348" y="3680642"/>
            <a:ext cx="489204" cy="903062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927348" y="4132173"/>
            <a:ext cx="489204" cy="451531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927348" y="4583704"/>
            <a:ext cx="489204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927348" y="4583704"/>
            <a:ext cx="489204" cy="451531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927348" y="4583704"/>
            <a:ext cx="489204" cy="903061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726180" y="4391680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000000"/>
                </a:solidFill>
                <a:latin typeface="Arial"/>
              </a:rPr>
              <a:t>«include»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3927348" y="2468880"/>
            <a:ext cx="3616452" cy="1211762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556248" y="2326050"/>
            <a:ext cx="987552" cy="169731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927348" y="4023360"/>
            <a:ext cx="3616452" cy="56034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927348" y="4023360"/>
            <a:ext cx="3616452" cy="1011875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927348" y="5486400"/>
            <a:ext cx="3616452" cy="365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60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7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Инструментальные средства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54572A-B2C1-4C3D-9A2B-E6DE73089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12" y="1628172"/>
            <a:ext cx="6516975" cy="4342953"/>
          </a:xfrm>
          <a:prstGeom prst="rect">
            <a:avLst/>
          </a:prstGeom>
        </p:spPr>
      </p:pic>
      <p:sp>
        <p:nvSpPr>
          <p:cNvPr id="23" name="Заголовок 2">
            <a:extLst>
              <a:ext uri="{FF2B5EF4-FFF2-40B4-BE49-F238E27FC236}">
                <a16:creationId xmlns:a16="http://schemas.microsoft.com/office/drawing/2014/main" id="{E7E01D80-4E96-43A9-80AD-770A9E095B90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</p:spTree>
    <p:extLst>
      <p:ext uri="{BB962C8B-B14F-4D97-AF65-F5344CB8AC3E}">
        <p14:creationId xmlns:p14="http://schemas.microsoft.com/office/powerpoint/2010/main" val="222235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8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Архитектура</a:t>
            </a:r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FACC58B9-6409-4E0E-B109-3206DA9CBEA5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212" name="Picture 211" descr="fig_arch_p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924" y="1325880"/>
            <a:ext cx="5708151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9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9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БД</a:t>
            </a:r>
          </a:p>
        </p:txBody>
      </p:sp>
      <p:sp>
        <p:nvSpPr>
          <p:cNvPr id="19" name="Заголовок 2">
            <a:extLst>
              <a:ext uri="{FF2B5EF4-FFF2-40B4-BE49-F238E27FC236}">
                <a16:creationId xmlns:a16="http://schemas.microsoft.com/office/drawing/2014/main" id="{7CAF4A83-FE60-4ED6-A6C6-A09AE3E2C1A4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212" name="Picture 211" descr="fig_db_p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17" y="1325880"/>
            <a:ext cx="8047765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6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FF0000"/>
                </a:solidFill>
                <a:cs typeface="Arial"/>
              </a:rPr>
              <a:t>Заключение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В ходе выполнения выпускной квалификационной работы был разработан веб-сайт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Core. В процессе создания программного продукта были успешно выполнены этапы анализа, проектирования, разработки и тестирования, что позволило достичь соответствия поставленным целям и задачам.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b="1" dirty="0">
                <a:cs typeface="Arial"/>
              </a:rPr>
              <a:t>Перспективы: </a:t>
            </a:r>
            <a:r>
              <a:rPr lang="ru-RU" altLang="ru-RU" sz="1800" dirty="0">
                <a:cs typeface="Arial"/>
              </a:rPr>
              <a:t>Планируется добавление Редактора Заклинаний, создание </a:t>
            </a:r>
            <a:r>
              <a:rPr lang="en-US" altLang="ru-RU" sz="1800" dirty="0">
                <a:cs typeface="Arial"/>
              </a:rPr>
              <a:t>Content Editor</a:t>
            </a:r>
            <a:r>
              <a:rPr lang="ru-RU" altLang="ru-RU" sz="1800" dirty="0">
                <a:cs typeface="Arial"/>
              </a:rPr>
              <a:t>, интеграция с </a:t>
            </a:r>
            <a:r>
              <a:rPr lang="en-US" altLang="ru-RU" sz="1800" dirty="0">
                <a:cs typeface="Arial"/>
              </a:rPr>
              <a:t>Telegram</a:t>
            </a:r>
            <a:r>
              <a:rPr lang="ru-RU" altLang="ru-RU" sz="1800" dirty="0">
                <a:cs typeface="Arial"/>
              </a:rPr>
              <a:t>, автоматические тесты. </a:t>
            </a:r>
          </a:p>
          <a:p>
            <a:pPr marL="0" indent="0">
              <a:spcAft>
                <a:spcPts val="1200"/>
              </a:spcAft>
              <a:buNone/>
            </a:pP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64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ACE39A-2B63-48BC-9AA8-7DF857F3B454}"/>
              </a:ext>
            </a:extLst>
          </p:cNvPr>
          <p:cNvSpPr txBox="1"/>
          <p:nvPr/>
        </p:nvSpPr>
        <p:spPr>
          <a:xfrm>
            <a:off x="755576" y="1916832"/>
            <a:ext cx="5713476" cy="1574017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dirty="0">
                <a:solidFill>
                  <a:schemeClr val="bg1"/>
                </a:solidFill>
                <a:latin typeface="+mn-lt"/>
              </a:rPr>
              <a:t>Разработка сайта для настольно-ролевой игры»</a:t>
            </a: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Автор: Гайдарь Максим Денисович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Студент группы 221-3711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Дипломный руководитель: </a:t>
            </a:r>
            <a:r>
              <a:rPr lang="ru-RU" sz="1400" dirty="0" err="1">
                <a:latin typeface="+mn-lt"/>
                <a:ea typeface="Times New Roman"/>
                <a:cs typeface="Times New Roman"/>
                <a:sym typeface="Times New Roman"/>
              </a:rPr>
              <a:t>Кандрашина</a:t>
            </a: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 М. А.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383605847"/>
      </p:ext>
    </p:extLst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12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2"/>
                </a:solidFill>
              </a:rPr>
              <a:t>Демонстрация проекта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pic>
        <p:nvPicPr>
          <p:cNvPr id="9" name="2026-05-14 18-52-41">
            <a:hlinkClick r:id="" action="ppaction://media"/>
            <a:extLst>
              <a:ext uri="{FF2B5EF4-FFF2-40B4-BE49-F238E27FC236}">
                <a16:creationId xmlns:a16="http://schemas.microsoft.com/office/drawing/2014/main" id="{5237BD0C-EDC5-41B8-8B19-89F03F8990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7767" y="1073723"/>
            <a:ext cx="8748465" cy="4921012"/>
          </a:xfrm>
          <a:prstGeom prst="rect">
            <a:avLst/>
          </a:prstGeom>
        </p:spPr>
      </p:pic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98370BD3-B472-4570-8542-16E50A2E5E8D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</p:spTree>
    <p:extLst>
      <p:ext uri="{BB962C8B-B14F-4D97-AF65-F5344CB8AC3E}">
        <p14:creationId xmlns:p14="http://schemas.microsoft.com/office/powerpoint/2010/main" val="334302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0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1411</TotalTime>
  <Words>408</Words>
  <Application>Microsoft Office PowerPoint</Application>
  <PresentationFormat>Экран (4:3)</PresentationFormat>
  <Paragraphs>69</Paragraphs>
  <Slides>12</Slides>
  <Notes>12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Gilroy</vt:lpstr>
      <vt:lpstr>Gilroy Bold</vt:lpstr>
      <vt:lpstr>Gilroy SemiBold</vt:lpstr>
      <vt:lpstr>quote-cjk-patch</vt:lpstr>
      <vt:lpstr>Николаенко_ААИ-2015</vt:lpstr>
      <vt:lpstr>Презентация PowerPoint</vt:lpstr>
      <vt:lpstr>Актуальность и новизна</vt:lpstr>
      <vt:lpstr>Актуальность и новизна</vt:lpstr>
      <vt:lpstr>Цель и задачи</vt:lpstr>
      <vt:lpstr>Анализ конкурентов</vt:lpstr>
      <vt:lpstr>Функциональные возможности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Kaliguri</cp:lastModifiedBy>
  <cp:revision>151</cp:revision>
  <cp:lastPrinted>2016-06-06T19:02:34Z</cp:lastPrinted>
  <dcterms:created xsi:type="dcterms:W3CDTF">2015-04-17T11:13:20Z</dcterms:created>
  <dcterms:modified xsi:type="dcterms:W3CDTF">2026-06-09T09:51:25Z</dcterms:modified>
</cp:coreProperties>
</file>