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4"/>
  </p:notesMasterIdLst>
  <p:sldIdLst>
    <p:sldId id="375" r:id="rId2"/>
    <p:sldId id="381" r:id="rId3"/>
    <p:sldId id="412" r:id="rId4"/>
    <p:sldId id="391" r:id="rId5"/>
    <p:sldId id="390" r:id="rId6"/>
    <p:sldId id="385" r:id="rId7"/>
    <p:sldId id="403" r:id="rId8"/>
    <p:sldId id="411" r:id="rId9"/>
    <p:sldId id="413" r:id="rId10"/>
    <p:sldId id="389" r:id="rId11"/>
    <p:sldId id="384" r:id="rId12"/>
    <p:sldId id="415" r:id="rId13"/>
  </p:sldIdLst>
  <p:sldSz cx="9144000" cy="6858000" type="screen4x3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906E"/>
    <a:srgbClr val="E63246"/>
    <a:srgbClr val="55B432"/>
    <a:srgbClr val="874BA0"/>
    <a:srgbClr val="4B6EB9"/>
    <a:srgbClr val="305DBE"/>
    <a:srgbClr val="4B93E3"/>
    <a:srgbClr val="6BA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84" autoAdjust="0"/>
    <p:restoredTop sz="92430" autoAdjust="0"/>
  </p:normalViewPr>
  <p:slideViewPr>
    <p:cSldViewPr>
      <p:cViewPr varScale="1">
        <p:scale>
          <a:sx n="113" d="100"/>
          <a:sy n="113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73E7F-7578-4DD4-82FD-40C24D6EA17C}" type="datetimeFigureOut">
              <a:rPr lang="ru-RU" smtClean="0"/>
              <a:t>09.06.2026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C04A8-8E84-4CDF-9B92-36B2179632B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956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3897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0580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6735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9318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При разработке будут использованы следующие инструментальные средства (устно проговариваете почему)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3749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187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Архитектуру вы можете показать через разные диаграммы, вопрос только расстановки акцентов: </a:t>
            </a:r>
            <a:r>
              <a:rPr lang="en-US" dirty="0"/>
              <a:t>IDEF </a:t>
            </a:r>
            <a:r>
              <a:rPr lang="ru-RU" dirty="0"/>
              <a:t>и ее декомпозиции позволят сконцентрировать внимание на обработке данных. Если система большая допустимо 2 слайда с логическим и процессным видами.</a:t>
            </a:r>
            <a:endParaRPr dirty="0"/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7857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8187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BC04A8-8E84-4CDF-9B92-36B2179632B4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416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None/>
            </a:pPr>
            <a:r>
              <a:rPr lang="ru-RU" b="0" i="0" dirty="0">
                <a:solidFill>
                  <a:srgbClr val="F9FAFB"/>
                </a:solidFill>
                <a:effectLst/>
                <a:latin typeface="quote-cjk-patch"/>
              </a:rPr>
              <a:t>Видео демо. Комментируете.</a:t>
            </a:r>
          </a:p>
        </p:txBody>
      </p:sp>
      <p:sp>
        <p:nvSpPr>
          <p:cNvPr id="204" name="Google Shape;2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15154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0D80-164F-4ECE-A815-4FDD83F9BCA5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521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88CD6-BB20-4C52-B81D-B7785C33963A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664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67C-FD54-4096-A385-8F8657C7304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0713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176E6-C242-4724-A575-17A3D2DBE5B9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905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2084D-7615-4765-BEBB-FC2ADD0D2DA6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7429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003A1-BF28-48BC-9995-A08902293C2F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0420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E2774-8C0E-4227-8A4F-13D7074C795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07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D009E-B0BA-40F4-9409-BAD477F7AA2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862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Чтобы добавить рисунок, перетащите его на заполнитель или щелкните значок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E8B98-2144-49DA-A188-3A9AAE81BE8F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5936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90CD5-AEFD-4FB0-8E05-A24BD20C7889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6823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5A9A4-3005-430B-8AC7-63EFCE89507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38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E7E8C-EA9C-421C-A5E1-3533048FB457}" type="datetime1">
              <a:rPr lang="ru-RU" smtClean="0"/>
              <a:t>09.06.2026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dirty="0"/>
              <a:t>Образование и наука - будущее России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0990C-240E-4F6D-96E9-50DBAF192F56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84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500000000000000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D8B31-06E9-46D3-AAFA-52D3CA6C5A17}"/>
              </a:ext>
            </a:extLst>
          </p:cNvPr>
          <p:cNvSpPr/>
          <p:nvPr/>
        </p:nvSpPr>
        <p:spPr>
          <a:xfrm>
            <a:off x="1547664" y="116632"/>
            <a:ext cx="59766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Федеральное государственное автономное образовательное учреждение высшего образования «Московский политехнический университет»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D8BA12-E3B0-41D9-A987-AAEE28952C8B}"/>
              </a:ext>
            </a:extLst>
          </p:cNvPr>
          <p:cNvSpPr txBox="1"/>
          <p:nvPr/>
        </p:nvSpPr>
        <p:spPr>
          <a:xfrm>
            <a:off x="827584" y="1844824"/>
            <a:ext cx="5976664" cy="927686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Разработка сайта для </a:t>
            </a:r>
          </a:p>
          <a:p>
            <a:r>
              <a:rPr lang="ru-RU" sz="2800" dirty="0">
                <a:solidFill>
                  <a:schemeClr val="bg1"/>
                </a:solidFill>
                <a:latin typeface="Gilroy SemiBold" pitchFamily="50" charset="-52"/>
              </a:rPr>
              <a:t>настольно-ролевой игры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99B0B-F466-41B6-8460-A62C45E458C0}"/>
              </a:ext>
            </a:extLst>
          </p:cNvPr>
          <p:cNvSpPr txBox="1"/>
          <p:nvPr/>
        </p:nvSpPr>
        <p:spPr>
          <a:xfrm>
            <a:off x="899594" y="4365104"/>
            <a:ext cx="4023914" cy="927686"/>
          </a:xfrm>
          <a:prstGeom prst="rect">
            <a:avLst/>
          </a:prstGeom>
          <a:noFill/>
        </p:spPr>
        <p:txBody>
          <a:bodyPr wrap="non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pPr lvl="0"/>
            <a:r>
              <a:rPr lang="ru-RU" sz="1400" dirty="0"/>
              <a:t>Автор: Гайдарь Максим Денисович</a:t>
            </a:r>
          </a:p>
          <a:p>
            <a:pPr lvl="0"/>
            <a:r>
              <a:rPr lang="ru-RU" sz="1400" dirty="0"/>
              <a:t>Студент группы 221-3711</a:t>
            </a:r>
          </a:p>
          <a:p>
            <a:pPr lvl="0"/>
            <a:r>
              <a:rPr lang="ru-RU" sz="1400" dirty="0"/>
              <a:t>Дипломный руководитель: Кандрашина М. А. </a:t>
            </a:r>
          </a:p>
          <a:p>
            <a:pPr lvl="0"/>
            <a:r>
              <a:rPr lang="ru-RU" sz="1400" dirty="0"/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243643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</a:t>
            </a:r>
            <a:r>
              <a:rPr lang="en-US" sz="1800" b="1" dirty="0">
                <a:solidFill>
                  <a:srgbClr val="4B6EB9"/>
                </a:solidFill>
                <a:cs typeface="Arial"/>
              </a:rPr>
              <a:t> </a:t>
            </a:r>
            <a:r>
              <a:rPr lang="ru-RU" sz="1800" b="1" dirty="0">
                <a:solidFill>
                  <a:srgbClr val="4B6EB9"/>
                </a:solidFill>
                <a:cs typeface="Arial"/>
              </a:rPr>
              <a:t>и новизна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2</a:t>
            </a:fld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724" y="1445568"/>
            <a:ext cx="5688630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sz="1800" b="1" dirty="0"/>
              <a:t>Объект: </a:t>
            </a:r>
            <a:r>
              <a:rPr lang="ru-RU" sz="1800" dirty="0"/>
              <a:t>процесс цифровой поддержки настольной ролевой системы </a:t>
            </a:r>
            <a:r>
              <a:rPr lang="ru-RU" sz="1800" dirty="0" err="1"/>
              <a:t>E'Magios</a:t>
            </a:r>
            <a:r>
              <a:rPr lang="ru-RU" sz="1800" dirty="0"/>
              <a:t> Core.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1" dirty="0"/>
              <a:t>Предмет: </a:t>
            </a:r>
            <a:r>
              <a:rPr lang="ru-RU" sz="1800" dirty="0"/>
              <a:t>веб-платформа для хранения, поиска и использования правил, справочников и пользовательских персонажей.</a:t>
            </a:r>
            <a:br>
              <a:rPr lang="ru-RU" sz="1800" dirty="0"/>
            </a:br>
            <a:br>
              <a:rPr lang="ru-RU" sz="1800" dirty="0"/>
            </a:br>
            <a:r>
              <a:rPr lang="ru-RU" sz="1800" b="1" dirty="0"/>
              <a:t>Актуальность: </a:t>
            </a:r>
            <a:r>
              <a:rPr lang="ru-RU" sz="1800" dirty="0"/>
              <a:t>настольная ролевая система содержит большой объём правил, заклинаний и данных персонажей. Веб-платформа упрощает поиск информации, ведение персонажей и обеспечивает облачный доступ с разных устройств.</a:t>
            </a:r>
            <a:endParaRPr lang="ru-RU" altLang="ru-RU" sz="1800" dirty="0">
              <a:cs typeface="Arial"/>
            </a:endParaRPr>
          </a:p>
        </p:txBody>
      </p:sp>
      <p:pic>
        <p:nvPicPr>
          <p:cNvPr id="1026" name="Picture 2" descr="Иллюстрация броска кубика D20 с критическим ударом 20 Иллюстрация вектора -  иллюстрации насчитывающей тип, удачливейше: 180586279">
            <a:extLst>
              <a:ext uri="{FF2B5EF4-FFF2-40B4-BE49-F238E27FC236}">
                <a16:creationId xmlns:a16="http://schemas.microsoft.com/office/drawing/2014/main" id="{AFD771CB-B809-47D2-96C5-EFF9F070B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232756"/>
            <a:ext cx="2448273" cy="244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786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4B6EB9"/>
                </a:solidFill>
                <a:cs typeface="Arial"/>
              </a:rPr>
              <a:t>Актуальность и новизна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3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7F9E584-E221-40BE-A38F-74A244859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988839"/>
            <a:ext cx="4758644" cy="37614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FC695A-6C48-4156-9086-06533267B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65" y="1993030"/>
            <a:ext cx="4135262" cy="20995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6B1364A-5FAA-481B-93A9-D7DD4480FF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64" y="4092574"/>
            <a:ext cx="3090228" cy="241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96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7030A0"/>
                </a:solidFill>
                <a:cs typeface="Arial"/>
              </a:rPr>
              <a:t>Цель и задачи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4</a:t>
            </a:fld>
            <a:endParaRPr lang="ru-RU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27E44A7-A887-49EF-B6CD-B0BA0A7FE8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 fontAlgn="base">
              <a:spcBef>
                <a:spcPts val="0"/>
              </a:spcBef>
              <a:buNone/>
            </a:pPr>
            <a:r>
              <a:rPr lang="ru-RU" altLang="ru-RU" sz="1800" b="1" dirty="0">
                <a:cs typeface="Arial"/>
              </a:rPr>
              <a:t>Цель работы </a:t>
            </a:r>
            <a:r>
              <a:rPr lang="ru-RU" altLang="ru-RU" sz="1800" dirty="0">
                <a:cs typeface="Arial"/>
              </a:rPr>
              <a:t>- разработка многофункционального веб-сайта для поддержки настольной ролевой системы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Core, обеспечивающего удобный доступ к игровому контенту и предоставляющего пользователям интерактивные инструменты для подготовки и сопровождения игрового процесса. </a:t>
            </a:r>
          </a:p>
          <a:p>
            <a:pPr marL="0" indent="0" rtl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fontAlgn="base">
              <a:spcBef>
                <a:spcPts val="0"/>
              </a:spcBef>
              <a:buNone/>
            </a:pPr>
            <a:r>
              <a:rPr lang="ru-RU" sz="1800" b="1" dirty="0"/>
              <a:t>Задачи: </a:t>
            </a:r>
          </a:p>
          <a:p>
            <a:pPr marL="0" indent="0" fontAlgn="base">
              <a:spcBef>
                <a:spcPts val="0"/>
              </a:spcBef>
              <a:buNone/>
            </a:pP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Исследование предметной области</a:t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Анализ аналогичных продуктов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Создание парсинга для переноса контента из Obsidian</a:t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/>
            </a:r>
            <a:r>
              <a:rPr lang="ru-RU" sz="1800" b="0" i="0" u="none" strike="noStrike" dirty="0" err="1">
                <a:solidFill>
                  <a:srgbClr val="000000"/>
                </a:solidFill>
                <a:effectLst/>
              </a:rPr>
              <a:t/>
            </a:r>
            <a:endParaRPr lang="ru-RU" sz="1800" dirty="0">
              <a:solidFill>
                <a:srgbClr val="000000"/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Проектирование структуры веб-приложения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b="0" i="0" u="none" strike="noStrike" dirty="0">
                <a:solidFill>
                  <a:srgbClr val="000000"/>
                </a:solidFill>
                <a:effectLst/>
              </a:rPr>
              <a:t>Разработка веб-сайта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ru-RU" sz="1800" dirty="0"/>
              <a:t>Тестирование</a:t>
            </a:r>
            <a:endParaRPr lang="ru-RU" sz="18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2921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Анализ конкурентов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5</a:t>
            </a:fld>
            <a:endParaRPr lang="ru-RU" dirty="0"/>
          </a:p>
        </p:txBody>
      </p:sp>
      <p:sp>
        <p:nvSpPr>
          <p:cNvPr id="7" name="AutoShape 2" descr="Сравнительная таблица платформ для игр">
            <a:extLst>
              <a:ext uri="{FF2B5EF4-FFF2-40B4-BE49-F238E27FC236}">
                <a16:creationId xmlns:a16="http://schemas.microsoft.com/office/drawing/2014/main" id="{45295387-2F59-4048-9D94-7B2FE14BD8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Picture 25" descr="fig_competi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938" y="1926694"/>
            <a:ext cx="6548124" cy="353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1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804672" y="1335024"/>
            <a:ext cx="7059168" cy="4800600"/>
          </a:xfrm>
          <a:prstGeom prst="rect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/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E'Magios Core Site</a:t>
            </a:r>
          </a:p>
        </p:txBody>
      </p:sp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1C906E"/>
                </a:solidFill>
                <a:cs typeface="Arial"/>
              </a:rPr>
              <a:t>Функциональные возможности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6</a:t>
            </a:fld>
            <a:endParaRPr lang="ru-RU" dirty="0"/>
          </a:p>
        </p:txBody>
      </p:sp>
      <p:sp>
        <p:nvSpPr>
          <p:cNvPr id="27" name="Oval 26"/>
          <p:cNvSpPr/>
          <p:nvPr/>
        </p:nvSpPr>
        <p:spPr>
          <a:xfrm>
            <a:off x="1554480" y="1627632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Зайти на сайт</a:t>
            </a:r>
          </a:p>
        </p:txBody>
      </p:sp>
      <p:sp>
        <p:nvSpPr>
          <p:cNvPr id="28" name="Oval 27"/>
          <p:cNvSpPr/>
          <p:nvPr/>
        </p:nvSpPr>
        <p:spPr>
          <a:xfrm>
            <a:off x="1554480" y="2112264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Читать книги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596896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Смотреть новости</a:t>
            </a:r>
          </a:p>
        </p:txBody>
      </p:sp>
      <p:sp>
        <p:nvSpPr>
          <p:cNvPr id="30" name="Oval 29"/>
          <p:cNvSpPr/>
          <p:nvPr/>
        </p:nvSpPr>
        <p:spPr>
          <a:xfrm>
            <a:off x="1554480" y="3081527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Пользоваться БД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3566160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Войти через Google</a:t>
            </a:r>
          </a:p>
        </p:txBody>
      </p:sp>
      <p:sp>
        <p:nvSpPr>
          <p:cNvPr id="32" name="Oval 31"/>
          <p:cNvSpPr/>
          <p:nvPr/>
        </p:nvSpPr>
        <p:spPr>
          <a:xfrm>
            <a:off x="1554480" y="4050792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100">
                <a:solidFill>
                  <a:srgbClr val="000000"/>
                </a:solidFill>
                <a:latin typeface="Arial"/>
              </a:rPr>
              <a:t>Открыть профиль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4535424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Работать с редактором персонажей</a:t>
            </a:r>
          </a:p>
        </p:txBody>
      </p:sp>
      <p:sp>
        <p:nvSpPr>
          <p:cNvPr id="34" name="Oval 33"/>
          <p:cNvSpPr/>
          <p:nvPr/>
        </p:nvSpPr>
        <p:spPr>
          <a:xfrm>
            <a:off x="1554480" y="5020056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Импортировать данные в Cloud Firestore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5504688"/>
            <a:ext cx="22860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800">
                <a:solidFill>
                  <a:srgbClr val="000000"/>
                </a:solidFill>
                <a:latin typeface="Arial"/>
              </a:rPr>
              <a:t>Подготовить JSON из Obsidian Vault</a:t>
            </a:r>
          </a:p>
        </p:txBody>
      </p:sp>
      <p:sp>
        <p:nvSpPr>
          <p:cNvPr id="36" name="Oval 35"/>
          <p:cNvSpPr/>
          <p:nvPr/>
        </p:nvSpPr>
        <p:spPr>
          <a:xfrm>
            <a:off x="4777740" y="1627632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Искать / фильтровать</a:t>
            </a:r>
          </a:p>
        </p:txBody>
      </p:sp>
      <p:sp>
        <p:nvSpPr>
          <p:cNvPr id="37" name="Oval 36"/>
          <p:cNvSpPr/>
          <p:nvPr/>
        </p:nvSpPr>
        <p:spPr>
          <a:xfrm>
            <a:off x="4777740" y="2112264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Открывать карточки</a:t>
            </a:r>
          </a:p>
        </p:txBody>
      </p:sp>
      <p:sp>
        <p:nvSpPr>
          <p:cNvPr id="38" name="Oval 37"/>
          <p:cNvSpPr/>
          <p:nvPr/>
        </p:nvSpPr>
        <p:spPr>
          <a:xfrm>
            <a:off x="4777740" y="2596896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Создать персонажа</a:t>
            </a:r>
          </a:p>
        </p:txBody>
      </p:sp>
      <p:sp>
        <p:nvSpPr>
          <p:cNvPr id="39" name="Oval 38"/>
          <p:cNvSpPr/>
          <p:nvPr/>
        </p:nvSpPr>
        <p:spPr>
          <a:xfrm>
            <a:off x="4777740" y="3081527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Редактировать персонажа</a:t>
            </a:r>
          </a:p>
        </p:txBody>
      </p:sp>
      <p:sp>
        <p:nvSpPr>
          <p:cNvPr id="40" name="Oval 39"/>
          <p:cNvSpPr/>
          <p:nvPr/>
        </p:nvSpPr>
        <p:spPr>
          <a:xfrm>
            <a:off x="4777740" y="3566160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Сохранить персонажа</a:t>
            </a:r>
          </a:p>
        </p:txBody>
      </p:sp>
      <p:sp>
        <p:nvSpPr>
          <p:cNvPr id="41" name="Oval 40"/>
          <p:cNvSpPr/>
          <p:nvPr/>
        </p:nvSpPr>
        <p:spPr>
          <a:xfrm>
            <a:off x="4777740" y="4050792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Загрузить персонажа</a:t>
            </a:r>
          </a:p>
        </p:txBody>
      </p:sp>
      <p:sp>
        <p:nvSpPr>
          <p:cNvPr id="42" name="Oval 41"/>
          <p:cNvSpPr/>
          <p:nvPr/>
        </p:nvSpPr>
        <p:spPr>
          <a:xfrm>
            <a:off x="4777740" y="4535424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Удалить персонажа</a:t>
            </a:r>
          </a:p>
        </p:txBody>
      </p:sp>
      <p:sp>
        <p:nvSpPr>
          <p:cNvPr id="43" name="Oval 42"/>
          <p:cNvSpPr/>
          <p:nvPr/>
        </p:nvSpPr>
        <p:spPr>
          <a:xfrm>
            <a:off x="4777740" y="5020056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Экспортировать персонажа</a:t>
            </a:r>
          </a:p>
        </p:txBody>
      </p:sp>
      <p:sp>
        <p:nvSpPr>
          <p:cNvPr id="44" name="Oval 43"/>
          <p:cNvSpPr/>
          <p:nvPr/>
        </p:nvSpPr>
        <p:spPr>
          <a:xfrm>
            <a:off x="4777740" y="5504688"/>
            <a:ext cx="2057400" cy="4023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9144" bIns="9144"/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Импортировать персонажа</a:t>
            </a:r>
          </a:p>
        </p:txBody>
      </p:sp>
      <p:sp>
        <p:nvSpPr>
          <p:cNvPr id="45" name="Oval 44"/>
          <p:cNvSpPr/>
          <p:nvPr/>
        </p:nvSpPr>
        <p:spPr>
          <a:xfrm>
            <a:off x="329184" y="243230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29768" y="2633472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8599" y="2715768"/>
            <a:ext cx="402337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65176" y="2944368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29768" y="2944368"/>
            <a:ext cx="164591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8287" y="3182112"/>
            <a:ext cx="822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Гость</a:t>
            </a:r>
          </a:p>
        </p:txBody>
      </p:sp>
      <p:sp>
        <p:nvSpPr>
          <p:cNvPr id="51" name="Oval 50"/>
          <p:cNvSpPr/>
          <p:nvPr/>
        </p:nvSpPr>
        <p:spPr>
          <a:xfrm>
            <a:off x="329184" y="4128515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429768" y="4329683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28599" y="4411979"/>
            <a:ext cx="402337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265176" y="4640579"/>
            <a:ext cx="164592" cy="25603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29768" y="4640579"/>
            <a:ext cx="164591" cy="25603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-73152" y="4878324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Авторизованный пользователь</a:t>
            </a:r>
          </a:p>
        </p:txBody>
      </p:sp>
      <p:sp>
        <p:nvSpPr>
          <p:cNvPr id="57" name="Oval 56"/>
          <p:cNvSpPr/>
          <p:nvPr/>
        </p:nvSpPr>
        <p:spPr>
          <a:xfrm>
            <a:off x="329184" y="5097779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429768" y="5298947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28599" y="5381243"/>
            <a:ext cx="402337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265176" y="5609843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29768" y="5609843"/>
            <a:ext cx="164591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-73152" y="5847588"/>
            <a:ext cx="10058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Администратор контента</a:t>
            </a:r>
          </a:p>
        </p:txBody>
      </p:sp>
      <p:sp>
        <p:nvSpPr>
          <p:cNvPr id="63" name="Oval 62"/>
          <p:cNvSpPr/>
          <p:nvPr/>
        </p:nvSpPr>
        <p:spPr>
          <a:xfrm>
            <a:off x="8220456" y="196596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8321040" y="2167128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119871" y="2249424"/>
            <a:ext cx="402337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8156448" y="2478024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321040" y="2478024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726679" y="2715768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Google Authentication</a:t>
            </a:r>
          </a:p>
        </p:txBody>
      </p:sp>
      <p:sp>
        <p:nvSpPr>
          <p:cNvPr id="69" name="Oval 68"/>
          <p:cNvSpPr/>
          <p:nvPr/>
        </p:nvSpPr>
        <p:spPr>
          <a:xfrm>
            <a:off x="8220456" y="365760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8321040" y="3858768"/>
            <a:ext cx="0" cy="310895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119871" y="3941063"/>
            <a:ext cx="402337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8156448" y="4169663"/>
            <a:ext cx="164592" cy="25603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321040" y="4169663"/>
            <a:ext cx="164592" cy="256033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726679" y="4407408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Cloud Firestore</a:t>
            </a:r>
          </a:p>
        </p:txBody>
      </p:sp>
      <p:sp>
        <p:nvSpPr>
          <p:cNvPr id="75" name="Oval 74"/>
          <p:cNvSpPr/>
          <p:nvPr/>
        </p:nvSpPr>
        <p:spPr>
          <a:xfrm>
            <a:off x="8220456" y="5212079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8321040" y="5413247"/>
            <a:ext cx="0" cy="31089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8119871" y="5495543"/>
            <a:ext cx="402337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8156448" y="5724143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8321040" y="5724143"/>
            <a:ext cx="164592" cy="2560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726679" y="5961888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000000"/>
                </a:solidFill>
                <a:latin typeface="Arial"/>
              </a:rPr>
              <a:t>Obsidian Vault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685800" y="1828800"/>
            <a:ext cx="850392" cy="96926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685800" y="2313432"/>
            <a:ext cx="850392" cy="4846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85800" y="2798064"/>
            <a:ext cx="85039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85800" y="2798064"/>
            <a:ext cx="850392" cy="484632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85800" y="2798064"/>
            <a:ext cx="850392" cy="969264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685800" y="4251960"/>
            <a:ext cx="850392" cy="24231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685800" y="4494276"/>
            <a:ext cx="850392" cy="24231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685800" y="5221224"/>
            <a:ext cx="850392" cy="24231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85800" y="5463540"/>
            <a:ext cx="850392" cy="242316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3858768" y="1828800"/>
            <a:ext cx="900684" cy="1453896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851910" y="2336292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000000"/>
                </a:solidFill>
                <a:latin typeface="Arial"/>
              </a:rPr>
              <a:t>«include»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3858768" y="2313432"/>
            <a:ext cx="900684" cy="96926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3851910" y="2578608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000000"/>
                </a:solidFill>
                <a:latin typeface="Arial"/>
              </a:rPr>
              <a:t>«include»</a:t>
            </a:r>
          </a:p>
        </p:txBody>
      </p:sp>
      <p:cxnSp>
        <p:nvCxnSpPr>
          <p:cNvPr id="94" name="Connector 93"/>
          <p:cNvCxnSpPr/>
          <p:nvPr/>
        </p:nvCxnSpPr>
        <p:spPr>
          <a:xfrm flipV="1">
            <a:off x="3858768" y="2798064"/>
            <a:ext cx="900684" cy="1938528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3858768" y="3282696"/>
            <a:ext cx="900684" cy="1453896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3858768" y="3767328"/>
            <a:ext cx="900684" cy="96926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858768" y="4251960"/>
            <a:ext cx="900684" cy="484632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3858768" y="4736592"/>
            <a:ext cx="900684" cy="0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3858768" y="4736592"/>
            <a:ext cx="900684" cy="484632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858768" y="4736592"/>
            <a:ext cx="900684" cy="96926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3794760" y="4535423"/>
            <a:ext cx="9144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i="1">
                <a:solidFill>
                  <a:srgbClr val="000000"/>
                </a:solidFill>
                <a:latin typeface="Arial"/>
              </a:rPr>
              <a:t>«include»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3858768" y="2331720"/>
            <a:ext cx="4206240" cy="1435608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858768" y="4023360"/>
            <a:ext cx="4206240" cy="1197864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858768" y="5577840"/>
            <a:ext cx="4206240" cy="128016"/>
          </a:xfrm>
          <a:prstGeom prst="line">
            <a:avLst/>
          </a:prstGeom>
          <a:ln w="12700">
            <a:solidFill>
              <a:srgbClr val="000000"/>
            </a:solidFill>
            <a:prstDash val="dash"/>
            <a:tailEnd type="stealth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60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7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Инструментальные средства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54572A-B2C1-4C3D-9A2B-E6DE73089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12" y="1628172"/>
            <a:ext cx="6516975" cy="4342953"/>
          </a:xfrm>
          <a:prstGeom prst="rect">
            <a:avLst/>
          </a:prstGeom>
        </p:spPr>
      </p:pic>
      <p:sp>
        <p:nvSpPr>
          <p:cNvPr id="23" name="Заголовок 2">
            <a:extLst>
              <a:ext uri="{FF2B5EF4-FFF2-40B4-BE49-F238E27FC236}">
                <a16:creationId xmlns:a16="http://schemas.microsoft.com/office/drawing/2014/main" id="{E7E01D80-4E96-43A9-80AD-770A9E095B90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</p:spTree>
    <p:extLst>
      <p:ext uri="{BB962C8B-B14F-4D97-AF65-F5344CB8AC3E}">
        <p14:creationId xmlns:p14="http://schemas.microsoft.com/office/powerpoint/2010/main" val="222235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222"/>
          <p:cNvSpPr/>
          <p:nvPr/>
        </p:nvSpPr>
        <p:spPr>
          <a:xfrm>
            <a:off x="256032" y="4443984"/>
            <a:ext cx="6126480" cy="1719072"/>
          </a:xfrm>
          <a:prstGeom prst="rect">
            <a:avLst/>
          </a:pr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/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Клиент: React + TypeScript + Vite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256032" y="1417320"/>
            <a:ext cx="8631936" cy="1152144"/>
          </a:xfrm>
          <a:prstGeom prst="rect">
            <a:avLst/>
          </a:pr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09728"/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Подготовка контента (офлайн)</a:t>
            </a:r>
          </a:p>
        </p:txBody>
      </p:sp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8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Архитектура</a:t>
            </a:r>
          </a:p>
        </p:txBody>
      </p:sp>
      <p:sp>
        <p:nvSpPr>
          <p:cNvPr id="14" name="Заголовок 2">
            <a:extLst>
              <a:ext uri="{FF2B5EF4-FFF2-40B4-BE49-F238E27FC236}">
                <a16:creationId xmlns:a16="http://schemas.microsoft.com/office/drawing/2014/main" id="{FACC58B9-6409-4E0E-B109-3206DA9CBEA5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24612" y="1645919"/>
            <a:ext cx="19659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Obsidian Vault
(Markdown)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2427732" y="1645919"/>
            <a:ext cx="19659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Python-парсеры
(Markdown → JSON)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590288" y="1645919"/>
            <a:ext cx="17373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JSON-файлы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533388" y="1645919"/>
            <a:ext cx="1965960" cy="713232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Import-скрипт
(Firebase Admin SDK)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2290572" y="2002536"/>
            <a:ext cx="13716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4393692" y="2002536"/>
            <a:ext cx="196596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6327648" y="2002536"/>
            <a:ext cx="20574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ectangle 219"/>
          <p:cNvSpPr/>
          <p:nvPr/>
        </p:nvSpPr>
        <p:spPr>
          <a:xfrm>
            <a:off x="2194560" y="3086100"/>
            <a:ext cx="475488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Cloud Firestore
(справочник, новости, профили, персонажи, манифест версий)</a:t>
            </a:r>
          </a:p>
        </p:txBody>
      </p:sp>
      <p:cxnSp>
        <p:nvCxnSpPr>
          <p:cNvPr id="221" name="Connector 220"/>
          <p:cNvCxnSpPr/>
          <p:nvPr/>
        </p:nvCxnSpPr>
        <p:spPr>
          <a:xfrm flipH="1">
            <a:off x="6949440" y="2359152"/>
            <a:ext cx="566928" cy="72694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6867144" y="2494026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Arial"/>
              </a:rPr>
              <a:t>импорт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731520" y="4686300"/>
            <a:ext cx="23774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Repository Layer
(доступ к данным,
фильтр по статусу)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74320" y="5536692"/>
            <a:ext cx="192024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IndexedDB
(кэш справочника)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291839" y="5536692"/>
            <a:ext cx="22860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React UI
(книги, база, редактор)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6903720" y="4686300"/>
            <a:ext cx="20116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Firebase
Authentication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6903720" y="5536692"/>
            <a:ext cx="201168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6576" bIns="36576"/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Пользователь</a:t>
            </a:r>
          </a:p>
        </p:txBody>
      </p:sp>
      <p:cxnSp>
        <p:nvCxnSpPr>
          <p:cNvPr id="229" name="Connector 228"/>
          <p:cNvCxnSpPr/>
          <p:nvPr/>
        </p:nvCxnSpPr>
        <p:spPr>
          <a:xfrm flipH="1">
            <a:off x="1920240" y="4046220"/>
            <a:ext cx="822960" cy="64008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1234439" y="4137660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Arial"/>
              </a:rPr>
              <a:t>чтение</a:t>
            </a:r>
          </a:p>
        </p:txBody>
      </p:sp>
      <p:cxnSp>
        <p:nvCxnSpPr>
          <p:cNvPr id="231" name="Connector 230"/>
          <p:cNvCxnSpPr/>
          <p:nvPr/>
        </p:nvCxnSpPr>
        <p:spPr>
          <a:xfrm flipH="1">
            <a:off x="1234440" y="5372100"/>
            <a:ext cx="365760" cy="16459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384047" y="5244083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Arial"/>
              </a:rPr>
              <a:t>кэш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2240280" y="5372100"/>
            <a:ext cx="2194560" cy="16459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2926079" y="5244083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Arial"/>
              </a:rPr>
              <a:t>данные</a:t>
            </a:r>
          </a:p>
        </p:txBody>
      </p:sp>
      <p:cxnSp>
        <p:nvCxnSpPr>
          <p:cNvPr id="235" name="Connector 234"/>
          <p:cNvCxnSpPr/>
          <p:nvPr/>
        </p:nvCxnSpPr>
        <p:spPr>
          <a:xfrm flipH="1">
            <a:off x="5577840" y="5029200"/>
            <a:ext cx="1325880" cy="850392"/>
          </a:xfrm>
          <a:prstGeom prst="line">
            <a:avLst/>
          </a:prstGeom>
          <a:ln w="15875">
            <a:solidFill>
              <a:srgbClr val="000000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TextBox 235"/>
          <p:cNvSpPr txBox="1"/>
          <p:nvPr/>
        </p:nvSpPr>
        <p:spPr>
          <a:xfrm>
            <a:off x="5554980" y="5207507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Arial"/>
              </a:rPr>
              <a:t>вход через Google</a:t>
            </a:r>
          </a:p>
        </p:txBody>
      </p:sp>
      <p:cxnSp>
        <p:nvCxnSpPr>
          <p:cNvPr id="237" name="Connector 236"/>
          <p:cNvCxnSpPr/>
          <p:nvPr/>
        </p:nvCxnSpPr>
        <p:spPr>
          <a:xfrm flipH="1">
            <a:off x="5577840" y="5879592"/>
            <a:ext cx="1325880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8" name="TextBox 237"/>
          <p:cNvSpPr txBox="1"/>
          <p:nvPr/>
        </p:nvSpPr>
        <p:spPr>
          <a:xfrm>
            <a:off x="5554980" y="5907023"/>
            <a:ext cx="13716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000000"/>
                </a:solidFill>
                <a:latin typeface="Arial"/>
              </a:rPr>
              <a:t>работа с сайтом</a:t>
            </a:r>
          </a:p>
        </p:txBody>
      </p:sp>
    </p:spTree>
    <p:extLst>
      <p:ext uri="{BB962C8B-B14F-4D97-AF65-F5344CB8AC3E}">
        <p14:creationId xmlns:p14="http://schemas.microsoft.com/office/powerpoint/2010/main" val="104119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9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4"/>
                </a:solidFill>
              </a:rPr>
              <a:t>БД</a:t>
            </a:r>
          </a:p>
        </p:txBody>
      </p:sp>
      <p:sp>
        <p:nvSpPr>
          <p:cNvPr id="19" name="Заголовок 2">
            <a:extLst>
              <a:ext uri="{FF2B5EF4-FFF2-40B4-BE49-F238E27FC236}">
                <a16:creationId xmlns:a16="http://schemas.microsoft.com/office/drawing/2014/main" id="{7CAF4A83-FE60-4ED6-A6C6-A09AE3E2C1A4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pic>
        <p:nvPicPr>
          <p:cNvPr id="212" name="Picture 211" descr="fig_db_p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117" y="1325880"/>
            <a:ext cx="8047765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60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Заголовок 2"/>
          <p:cNvSpPr>
            <a:spLocks noGrp="1"/>
          </p:cNvSpPr>
          <p:nvPr>
            <p:ph type="title"/>
          </p:nvPr>
        </p:nvSpPr>
        <p:spPr>
          <a:xfrm>
            <a:off x="971600" y="980728"/>
            <a:ext cx="7725544" cy="504056"/>
          </a:xfrm>
        </p:spPr>
        <p:txBody>
          <a:bodyPr>
            <a:noAutofit/>
          </a:bodyPr>
          <a:lstStyle/>
          <a:p>
            <a:pPr algn="l"/>
            <a:r>
              <a:rPr lang="ru-RU" sz="1800" b="1" dirty="0">
                <a:solidFill>
                  <a:srgbClr val="FF0000"/>
                </a:solidFill>
                <a:cs typeface="Arial"/>
              </a:rPr>
              <a:t>Заключение</a:t>
            </a:r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>
            <a:off x="683568" y="980728"/>
            <a:ext cx="69950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/>
          <p:cNvCxnSpPr/>
          <p:nvPr/>
        </p:nvCxnSpPr>
        <p:spPr>
          <a:xfrm flipV="1">
            <a:off x="899592" y="476672"/>
            <a:ext cx="0" cy="720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Объект 2"/>
          <p:cNvSpPr>
            <a:spLocks noGrp="1"/>
          </p:cNvSpPr>
          <p:nvPr>
            <p:ph idx="1"/>
          </p:nvPr>
        </p:nvSpPr>
        <p:spPr>
          <a:xfrm>
            <a:off x="467544" y="1529035"/>
            <a:ext cx="7848872" cy="4348237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ru-RU" altLang="ru-RU" sz="1800" dirty="0">
                <a:cs typeface="Arial"/>
              </a:rPr>
              <a:t>В ходе выполнения выпускной квалификационной работы был разработан веб-сайт </a:t>
            </a:r>
            <a:r>
              <a:rPr lang="ru-RU" altLang="ru-RU" sz="1800" dirty="0" err="1">
                <a:cs typeface="Arial"/>
              </a:rPr>
              <a:t>E'Magios</a:t>
            </a:r>
            <a:r>
              <a:rPr lang="ru-RU" altLang="ru-RU" sz="1800" dirty="0">
                <a:cs typeface="Arial"/>
              </a:rPr>
              <a:t> Core. В процессе создания программного продукта были успешно выполнены этапы анализа, проектирования, разработки и тестирования, что позволило достичь соответствия поставленным целям и задачам.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u-RU" altLang="ru-RU" sz="1800" b="1" dirty="0">
                <a:cs typeface="Arial"/>
              </a:rPr>
              <a:t>Перспективы: </a:t>
            </a:r>
            <a:r>
              <a:rPr lang="ru-RU" altLang="ru-RU" sz="1800" dirty="0">
                <a:cs typeface="Arial"/>
              </a:rPr>
              <a:t>Планируется добавление Редактора Заклинаний, создание </a:t>
            </a:r>
            <a:r>
              <a:rPr lang="en-US" altLang="ru-RU" sz="1800" dirty="0">
                <a:cs typeface="Arial"/>
              </a:rPr>
              <a:t>Content Editor</a:t>
            </a:r>
            <a:r>
              <a:rPr lang="ru-RU" altLang="ru-RU" sz="1800" dirty="0">
                <a:cs typeface="Arial"/>
              </a:rPr>
              <a:t>, интеграция с </a:t>
            </a:r>
            <a:r>
              <a:rPr lang="en-US" altLang="ru-RU" sz="1800" dirty="0">
                <a:cs typeface="Arial"/>
              </a:rPr>
              <a:t>Telegram</a:t>
            </a:r>
            <a:r>
              <a:rPr lang="ru-RU" altLang="ru-RU" sz="1800" dirty="0">
                <a:cs typeface="Arial"/>
              </a:rPr>
              <a:t>, автоматические тесты. </a:t>
            </a:r>
          </a:p>
          <a:p>
            <a:pPr marL="0" indent="0">
              <a:spcAft>
                <a:spcPts val="1200"/>
              </a:spcAft>
              <a:buNone/>
            </a:pPr>
            <a:endParaRPr lang="ru-RU" altLang="ru-RU" sz="1800" dirty="0">
              <a:cs typeface="Arial"/>
            </a:endParaRPr>
          </a:p>
        </p:txBody>
      </p:sp>
      <p:sp>
        <p:nvSpPr>
          <p:cNvPr id="25" name="Заголовок 2"/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0990C-240E-4F6D-96E9-50DBAF192F56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64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ACE39A-2B63-48BC-9AA8-7DF857F3B454}"/>
              </a:ext>
            </a:extLst>
          </p:cNvPr>
          <p:cNvSpPr txBox="1"/>
          <p:nvPr/>
        </p:nvSpPr>
        <p:spPr>
          <a:xfrm>
            <a:off x="755576" y="1916832"/>
            <a:ext cx="5713476" cy="1574017"/>
          </a:xfrm>
          <a:prstGeom prst="rect">
            <a:avLst/>
          </a:prstGeom>
          <a:noFill/>
        </p:spPr>
        <p:txBody>
          <a:bodyPr wrap="square" lIns="65274" tIns="32637" rIns="65274" bIns="32637" rtlCol="0">
            <a:spAutoFit/>
          </a:bodyPr>
          <a:lstStyle>
            <a:defPPr>
              <a:defRPr lang="ru-RU"/>
            </a:defPPr>
            <a:lvl1pPr>
              <a:defRPr sz="2300">
                <a:solidFill>
                  <a:schemeClr val="bg1"/>
                </a:solidFill>
                <a:latin typeface="Gilroy" pitchFamily="50" charset="-52"/>
              </a:defRPr>
            </a:lvl1pPr>
          </a:lstStyle>
          <a:p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dirty="0">
                <a:solidFill>
                  <a:schemeClr val="bg1"/>
                </a:solidFill>
                <a:latin typeface="+mn-lt"/>
              </a:rPr>
              <a:t>Разработка сайта для настольно-ролевой игры»</a:t>
            </a: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Автор: Гайдарь Максим Денисович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Студент группы 221-3711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endParaRPr lang="ru-RU" sz="1400" dirty="0">
              <a:latin typeface="+mn-lt"/>
              <a:ea typeface="Times New Roman"/>
              <a:cs typeface="Times New Roman"/>
              <a:sym typeface="Times New Roman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Дипломный руководитель: </a:t>
            </a:r>
            <a:r>
              <a:rPr lang="ru-RU" sz="1400" dirty="0" err="1">
                <a:latin typeface="+mn-lt"/>
                <a:ea typeface="Times New Roman"/>
                <a:cs typeface="Times New Roman"/>
                <a:sym typeface="Times New Roman"/>
              </a:rPr>
              <a:t>Кандрашина</a:t>
            </a: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 М. А.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lang="ru-RU" sz="1400" dirty="0">
                <a:latin typeface="+mn-lt"/>
                <a:ea typeface="Times New Roman"/>
                <a:cs typeface="Times New Roman"/>
                <a:sym typeface="Times New Roman"/>
              </a:rPr>
              <a:t>Старший преподаватель </a:t>
            </a:r>
          </a:p>
        </p:txBody>
      </p:sp>
    </p:spTree>
    <p:extLst>
      <p:ext uri="{BB962C8B-B14F-4D97-AF65-F5344CB8AC3E}">
        <p14:creationId xmlns:p14="http://schemas.microsoft.com/office/powerpoint/2010/main" val="383605847"/>
      </p:ext>
    </p:extLst>
  </p:cSld>
  <p:clrMapOvr>
    <a:masterClrMapping/>
  </p:clrMapOvr>
  <p:transition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fld id="{00000000-1234-1234-1234-123412341234}" type="slidenum">
              <a:rPr lang="ru-RU"/>
              <a:pPr/>
              <a:t>12</a:t>
            </a:fld>
            <a:endParaRPr dirty="0"/>
          </a:p>
        </p:txBody>
      </p:sp>
      <p:cxnSp>
        <p:nvCxnSpPr>
          <p:cNvPr id="207" name="Google Shape;207;p10"/>
          <p:cNvCxnSpPr/>
          <p:nvPr/>
        </p:nvCxnSpPr>
        <p:spPr>
          <a:xfrm>
            <a:off x="395538" y="980728"/>
            <a:ext cx="728309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0"/>
          <p:cNvCxnSpPr/>
          <p:nvPr/>
        </p:nvCxnSpPr>
        <p:spPr>
          <a:xfrm flipV="1">
            <a:off x="899592" y="412912"/>
            <a:ext cx="0" cy="85584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1" name="Google Shape;211;p10"/>
          <p:cNvSpPr txBox="1"/>
          <p:nvPr/>
        </p:nvSpPr>
        <p:spPr>
          <a:xfrm>
            <a:off x="971600" y="952971"/>
            <a:ext cx="7725544" cy="50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92D050"/>
              </a:buClr>
              <a:buSzPts val="1800"/>
            </a:pPr>
            <a:r>
              <a:rPr lang="ru-RU" b="1" dirty="0">
                <a:solidFill>
                  <a:schemeClr val="accent2"/>
                </a:solidFill>
              </a:rPr>
              <a:t>Демонстрация проекта</a:t>
            </a:r>
          </a:p>
        </p:txBody>
      </p:sp>
      <p:sp>
        <p:nvSpPr>
          <p:cNvPr id="82" name="Google Shape;212;p10"/>
          <p:cNvSpPr txBox="1">
            <a:spLocks/>
          </p:cNvSpPr>
          <p:nvPr/>
        </p:nvSpPr>
        <p:spPr>
          <a:xfrm>
            <a:off x="323531" y="1296519"/>
            <a:ext cx="7920879" cy="48715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numCol="1" rtlCol="0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500000000000000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SzPct val="100000"/>
              <a:buNone/>
            </a:pPr>
            <a:endParaRPr lang="ru-RU" sz="1800" dirty="0"/>
          </a:p>
        </p:txBody>
      </p:sp>
      <p:pic>
        <p:nvPicPr>
          <p:cNvPr id="9" name="2026-05-14 18-52-41">
            <a:hlinkClick r:id="" action="ppaction://media"/>
            <a:extLst>
              <a:ext uri="{FF2B5EF4-FFF2-40B4-BE49-F238E27FC236}">
                <a16:creationId xmlns:a16="http://schemas.microsoft.com/office/drawing/2014/main" id="{5237BD0C-EDC5-41B8-8B19-89F03F8990F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7767" y="1073723"/>
            <a:ext cx="8748465" cy="4921012"/>
          </a:xfrm>
          <a:prstGeom prst="rect">
            <a:avLst/>
          </a:prstGeom>
        </p:spPr>
      </p:pic>
      <p:sp>
        <p:nvSpPr>
          <p:cNvPr id="11" name="Заголовок 2">
            <a:extLst>
              <a:ext uri="{FF2B5EF4-FFF2-40B4-BE49-F238E27FC236}">
                <a16:creationId xmlns:a16="http://schemas.microsoft.com/office/drawing/2014/main" id="{98370BD3-B472-4570-8542-16E50A2E5E8D}"/>
              </a:ext>
            </a:extLst>
          </p:cNvPr>
          <p:cNvSpPr txBox="1">
            <a:spLocks/>
          </p:cNvSpPr>
          <p:nvPr/>
        </p:nvSpPr>
        <p:spPr>
          <a:xfrm>
            <a:off x="971600" y="476672"/>
            <a:ext cx="7725544" cy="5040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sz="2000" b="1">
                <a:solidFill>
                  <a:srgbClr val="000000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ru-RU" dirty="0">
                <a:latin typeface="Gilroy Bold" pitchFamily="50" charset="-52"/>
              </a:rPr>
              <a:t>Разработка сайта для настольно-ролевой игры</a:t>
            </a:r>
          </a:p>
        </p:txBody>
      </p:sp>
    </p:spTree>
    <p:extLst>
      <p:ext uri="{BB962C8B-B14F-4D97-AF65-F5344CB8AC3E}">
        <p14:creationId xmlns:p14="http://schemas.microsoft.com/office/powerpoint/2010/main" val="3343022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20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Николаенко_ААИ-2015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Другая 1">
      <a:majorFont>
        <a:latin typeface="Gilroy SemiBold"/>
        <a:ea typeface=""/>
        <a:cs typeface=""/>
      </a:majorFont>
      <a:minorFont>
        <a:latin typeface="Gilro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Николаенко_ААИ-2015.thmx</Template>
  <TotalTime>1411</TotalTime>
  <Words>408</Words>
  <Application>Microsoft Office PowerPoint</Application>
  <PresentationFormat>Экран (4:3)</PresentationFormat>
  <Paragraphs>69</Paragraphs>
  <Slides>12</Slides>
  <Notes>12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Calibri</vt:lpstr>
      <vt:lpstr>Gilroy</vt:lpstr>
      <vt:lpstr>Gilroy Bold</vt:lpstr>
      <vt:lpstr>Gilroy SemiBold</vt:lpstr>
      <vt:lpstr>quote-cjk-patch</vt:lpstr>
      <vt:lpstr>Николаенко_ААИ-2015</vt:lpstr>
      <vt:lpstr>Презентация PowerPoint</vt:lpstr>
      <vt:lpstr>Актуальность и новизна</vt:lpstr>
      <vt:lpstr>Актуальность и новизна</vt:lpstr>
      <vt:lpstr>Цель и задачи</vt:lpstr>
      <vt:lpstr>Анализ конкурентов</vt:lpstr>
      <vt:lpstr>Функциональные возможности</vt:lpstr>
      <vt:lpstr>Презентация PowerPoint</vt:lpstr>
      <vt:lpstr>Презентация PowerPoint</vt:lpstr>
      <vt:lpstr>Презентация PowerPoint</vt:lpstr>
      <vt:lpstr>Заключение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Lepeshkin</dc:creator>
  <cp:lastModifiedBy>Kaliguri</cp:lastModifiedBy>
  <cp:revision>151</cp:revision>
  <cp:lastPrinted>2016-06-06T19:02:34Z</cp:lastPrinted>
  <dcterms:created xsi:type="dcterms:W3CDTF">2015-04-17T11:13:20Z</dcterms:created>
  <dcterms:modified xsi:type="dcterms:W3CDTF">2026-06-09T09:51:25Z</dcterms:modified>
</cp:coreProperties>
</file>