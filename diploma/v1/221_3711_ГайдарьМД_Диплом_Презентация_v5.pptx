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5"/>
  </p:notesMasterIdLst>
  <p:sldIdLst>
    <p:sldId id="375" r:id="rId2"/>
    <p:sldId id="381" r:id="rId3"/>
    <p:sldId id="412" r:id="rId4"/>
    <p:sldId id="391" r:id="rId5"/>
    <p:sldId id="390" r:id="rId6"/>
    <p:sldId id="385" r:id="rId7"/>
    <p:sldId id="403" r:id="rId8"/>
    <p:sldId id="411" r:id="rId9"/>
    <p:sldId id="413" r:id="rId10"/>
    <p:sldId id="416" r:id="rId11"/>
    <p:sldId id="389" r:id="rId12"/>
    <p:sldId id="384" r:id="rId13"/>
    <p:sldId id="415" r:id="rId14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906E"/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2430" autoAdjust="0"/>
  </p:normalViewPr>
  <p:slideViewPr>
    <p:cSldViewPr>
      <p:cViewPr varScale="1">
        <p:scale>
          <a:sx n="106" d="100"/>
          <a:sy n="106" d="100"/>
        </p:scale>
        <p:origin x="192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16.06.2026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58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735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31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разработке будут использованы следующие инструментальные средства (устно проговариваете почему)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74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8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857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5DB678AF-B37A-377B-E911-B73CA17C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>
            <a:extLst>
              <a:ext uri="{FF2B5EF4-FFF2-40B4-BE49-F238E27FC236}">
                <a16:creationId xmlns:a16="http://schemas.microsoft.com/office/drawing/2014/main" id="{BD512206-D363-0630-B49E-DA0C1E4F11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>
            <a:extLst>
              <a:ext uri="{FF2B5EF4-FFF2-40B4-BE49-F238E27FC236}">
                <a16:creationId xmlns:a16="http://schemas.microsoft.com/office/drawing/2014/main" id="{667703B9-AB31-AC93-B9FF-0668B8CFC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4901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187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Видео демо. Комментируете.</a:t>
            </a:r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51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D8B31-06E9-46D3-AAFA-52D3CA6C5A17}"/>
              </a:ext>
            </a:extLst>
          </p:cNvPr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8BA12-E3B0-41D9-A987-AAEE28952C8B}"/>
              </a:ext>
            </a:extLst>
          </p:cNvPr>
          <p:cNvSpPr txBox="1"/>
          <p:nvPr/>
        </p:nvSpPr>
        <p:spPr>
          <a:xfrm>
            <a:off x="827584" y="1844824"/>
            <a:ext cx="5976664" cy="927686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Разработка сайта для </a:t>
            </a:r>
          </a:p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настольно-ролевой игры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99B0B-F466-41B6-8460-A62C45E458C0}"/>
              </a:ext>
            </a:extLst>
          </p:cNvPr>
          <p:cNvSpPr txBox="1"/>
          <p:nvPr/>
        </p:nvSpPr>
        <p:spPr>
          <a:xfrm>
            <a:off x="899594" y="4365104"/>
            <a:ext cx="4023914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Гайдарь Максим Денисович</a:t>
            </a:r>
          </a:p>
          <a:p>
            <a:pPr lvl="0"/>
            <a:r>
              <a:rPr lang="ru-RU" sz="1400" dirty="0"/>
              <a:t>Студент группы 221-3711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</a:t>
            </a:r>
            <a:r>
              <a:rPr lang="en-US" sz="1800" b="1" dirty="0">
                <a:solidFill>
                  <a:srgbClr val="4B6EB9"/>
                </a:solidFill>
                <a:cs typeface="Arial"/>
              </a:rPr>
              <a:t> </a:t>
            </a:r>
            <a:r>
              <a:rPr lang="ru-RU" sz="1800" b="1" dirty="0">
                <a:solidFill>
                  <a:srgbClr val="4B6EB9"/>
                </a:solidFill>
                <a:cs typeface="Arial"/>
              </a:rPr>
              <a:t>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 sz="1600" b="1">
                <a:solidFill>
                  <a:srgbClr val="333333"/>
                </a:solidFill>
              </a:rPr>
              <a:t>2</a:t>
            </a:fld>
            <a:r>
              <a:rPr lang="ru-RU" smtClean="0" sz="1600" b="1">
                <a:solidFill>
                  <a:srgbClr val="333333"/>
                </a:solidFill>
              </a:rPr>
              <a:t> (из 13)</a:t>
            </a:r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24" y="1445568"/>
            <a:ext cx="568863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sz="1800" b="1" dirty="0"/>
              <a:t>Объект: </a:t>
            </a:r>
            <a:r>
              <a:rPr lang="ru-RU" sz="1800" dirty="0"/>
              <a:t>процесс цифровой поддержки настольной ролевой системы </a:t>
            </a:r>
            <a:r>
              <a:rPr lang="ru-RU" sz="1800" dirty="0" err="1"/>
              <a:t>E'Magios</a:t>
            </a:r>
            <a:r>
              <a:rPr lang="ru-RU" sz="1800" dirty="0"/>
              <a:t> Core.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Предмет: </a:t>
            </a:r>
            <a:r>
              <a:rPr lang="ru-RU" sz="1800" dirty="0"/>
              <a:t>веб-платформа для хранения, поиска и использования правил, справочников и пользовательских персонажей.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Актуальность: </a:t>
            </a:r>
            <a:r>
              <a:rPr lang="ru-RU" sz="1800" dirty="0"/>
              <a:t>настольная ролевая система содержит большой объём правил, заклинаний и данных персонажей. Веб-платформа упрощает поиск информации, ведение персонажей и обеспечивает облачный доступ с разных устройств.</a:t>
            </a:r>
            <a:endParaRPr lang="ru-RU" altLang="ru-RU" sz="1800" dirty="0">
              <a:cs typeface="Arial"/>
            </a:endParaRPr>
          </a:p>
        </p:txBody>
      </p:sp>
      <p:pic>
        <p:nvPicPr>
          <p:cNvPr id="1026" name="Picture 2" descr="Иллюстрация броска кубика D20 с критическим ударом 20 Иллюстрация вектора -  иллюстрации насчитывающей тип, удачливейше: 180586279">
            <a:extLst>
              <a:ext uri="{FF2B5EF4-FFF2-40B4-BE49-F238E27FC236}">
                <a16:creationId xmlns:a16="http://schemas.microsoft.com/office/drawing/2014/main" id="{AFD771CB-B809-47D2-96C5-EFF9F070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32756"/>
            <a:ext cx="2448273" cy="244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 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 sz="1600" b="1">
                <a:solidFill>
                  <a:srgbClr val="333333"/>
                </a:solidFill>
              </a:rPr>
              <a:t>3</a:t>
            </a:fld>
            <a:r>
              <a:rPr lang="ru-RU" smtClean="0" sz="1600" b="1">
                <a:solidFill>
                  <a:srgbClr val="333333"/>
                </a:solidFill>
              </a:rPr>
              <a:t> (из 13)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FC4345-E7B9-8C72-EDF8-53E04AD8A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1" y="1392459"/>
            <a:ext cx="8462357" cy="476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6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7030A0"/>
                </a:solidFill>
                <a:cs typeface="Arial"/>
              </a:rPr>
              <a:t>Цель и задачи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 sz="1600" b="1">
                <a:solidFill>
                  <a:srgbClr val="333333"/>
                </a:solidFill>
              </a:rPr>
              <a:t>4</a:t>
            </a:fld>
            <a:r>
              <a:rPr lang="ru-RU" smtClean="0" sz="1600" b="1">
                <a:solidFill>
                  <a:srgbClr val="333333"/>
                </a:solidFill>
              </a:rPr>
              <a:t> (из 13)</a:t>
            </a:r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altLang="ru-RU" sz="1800" b="1" dirty="0">
                <a:cs typeface="Arial"/>
              </a:rPr>
              <a:t>Цель работы </a:t>
            </a:r>
            <a:r>
              <a:rPr lang="ru-RU" altLang="ru-RU" sz="1800" dirty="0">
                <a:cs typeface="Arial"/>
              </a:rPr>
              <a:t>- разработка многофункционального веб-сайта для поддержки настольной ролевой системы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Core, обеспечивающего удобный доступ к игровому контенту и предоставляющего пользователям интерактивные инструменты для подготовки и сопровождения игрового процесса. 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800" b="1" dirty="0"/>
              <a:t>Задачи: 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Исследование предметной области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Анализ аналогичных продуктов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Создание парсинга для переноса контента из Obsidian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Проектирование структуры веб-приложения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Разработка веб-сайта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Тестирование</a:t>
            </a: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921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Анализ конкурентов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 sz="1600" b="1">
                <a:solidFill>
                  <a:srgbClr val="333333"/>
                </a:solidFill>
              </a:rPr>
              <a:t>5</a:t>
            </a:fld>
            <a:r>
              <a:rPr lang="ru-RU" smtClean="0" sz="1600" b="1">
                <a:solidFill>
                  <a:srgbClr val="333333"/>
                </a:solidFill>
              </a:rPr>
              <a:t> (из 13)</a:t>
            </a:r>
            <a:endParaRPr lang="ru-RU" dirty="0"/>
          </a:p>
        </p:txBody>
      </p:sp>
      <p:sp>
        <p:nvSpPr>
          <p:cNvPr id="7" name="AutoShape 2" descr="Сравнительная таблица платформ для игр">
            <a:extLst>
              <a:ext uri="{FF2B5EF4-FFF2-40B4-BE49-F238E27FC236}">
                <a16:creationId xmlns:a16="http://schemas.microsoft.com/office/drawing/2014/main" id="{45295387-2F59-4048-9D94-7B2FE14BD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0FCF6-7392-17B9-0C5E-FC53F7AE0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88" y="1340768"/>
            <a:ext cx="6669823" cy="33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1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1C906E"/>
                </a:solidFill>
                <a:cs typeface="Arial"/>
              </a:rPr>
              <a:t>Функциональные возможности (</a:t>
            </a:r>
            <a:r>
              <a:rPr lang="en-US" sz="1800" b="1" dirty="0">
                <a:solidFill>
                  <a:srgbClr val="1C906E"/>
                </a:solidFill>
                <a:cs typeface="Arial"/>
              </a:rPr>
              <a:t>Use Case)</a:t>
            </a:r>
            <a:endParaRPr lang="ru-RU" sz="1800" b="1" dirty="0">
              <a:solidFill>
                <a:srgbClr val="1C906E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 sz="1600" b="1">
                <a:solidFill>
                  <a:srgbClr val="333333"/>
                </a:solidFill>
              </a:rPr>
              <a:t>6</a:t>
            </a:fld>
            <a:r>
              <a:rPr lang="ru-RU" smtClean="0" sz="1600" b="1">
                <a:solidFill>
                  <a:srgbClr val="333333"/>
                </a:solidFill>
              </a:rPr>
              <a:t> (из 13)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E230F2-D392-400A-5D5D-4213121D6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15" y="1472628"/>
            <a:ext cx="6719769" cy="503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 sz="1600" b="1">
                <a:solidFill>
                  <a:srgbClr val="333333"/>
                </a:solidFill>
              </a:rPr>
              <a:pPr/>
              <a:t>7</a:t>
            </a:fld>
            <a:r>
              <a:rPr lang="ru-RU" sz="1600" b="1">
                <a:solidFill>
                  <a:srgbClr val="333333"/>
                </a:solidFill>
              </a:rPr>
              <a:t> (из 13)</a:t>
            </a:r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Инструментальные средства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sp>
        <p:nvSpPr>
          <p:cNvPr id="23" name="Заголовок 2">
            <a:extLst>
              <a:ext uri="{FF2B5EF4-FFF2-40B4-BE49-F238E27FC236}">
                <a16:creationId xmlns:a16="http://schemas.microsoft.com/office/drawing/2014/main" id="{E7E01D80-4E96-43A9-80AD-770A9E095B90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25A534-2641-9DE7-A7AB-2CFE529CD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35" y="1408439"/>
            <a:ext cx="8208911" cy="461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 sz="1600" b="1">
                <a:solidFill>
                  <a:srgbClr val="333333"/>
                </a:solidFill>
              </a:rPr>
              <a:pPr/>
              <a:t>8</a:t>
            </a:fld>
            <a:r>
              <a:rPr lang="ru-RU" sz="1600" b="1">
                <a:solidFill>
                  <a:srgbClr val="333333"/>
                </a:solidFill>
              </a:rPr>
              <a:t> (из 13)</a:t>
            </a:r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Архитектура и потоки данных (DFD)</a:t>
            </a:r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FACC58B9-6409-4E0E-B109-3206DA9CBEA5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A6DC1B-ADE1-FE92-07AE-F8CF5DAE6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508164"/>
            <a:ext cx="8279903" cy="465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 sz="1600" b="1">
                <a:solidFill>
                  <a:srgbClr val="333333"/>
                </a:solidFill>
              </a:rPr>
              <a:pPr/>
              <a:t>9</a:t>
            </a:fld>
            <a:r>
              <a:rPr lang="ru-RU" sz="1600" b="1">
                <a:solidFill>
                  <a:srgbClr val="333333"/>
                </a:solidFill>
              </a:rPr>
              <a:t> (из 13)</a:t>
            </a:r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Логическая модель данных </a:t>
            </a:r>
            <a:r>
              <a:rPr lang="ru-RU" b="1" dirty="0" err="1">
                <a:solidFill>
                  <a:schemeClr val="accent4"/>
                </a:solidFill>
              </a:rPr>
              <a:t>Firestore</a:t>
            </a:r>
            <a:r>
              <a:rPr lang="ru-RU" b="1" dirty="0">
                <a:solidFill>
                  <a:schemeClr val="accent4"/>
                </a:solidFill>
              </a:rPr>
              <a:t>: справочник</a:t>
            </a:r>
            <a:r>
              <a:rPr lang="en-US" b="1" dirty="0">
                <a:solidFill>
                  <a:schemeClr val="accent4"/>
                </a:solidFill>
              </a:rPr>
              <a:t> (ER)</a:t>
            </a:r>
            <a:endParaRPr lang="ru-RU" b="1" dirty="0">
              <a:solidFill>
                <a:schemeClr val="accent4"/>
              </a:solidFill>
            </a:endParaRPr>
          </a:p>
        </p:txBody>
      </p:sp>
      <p:sp>
        <p:nvSpPr>
          <p:cNvPr id="19" name="Заголовок 2">
            <a:extLst>
              <a:ext uri="{FF2B5EF4-FFF2-40B4-BE49-F238E27FC236}">
                <a16:creationId xmlns:a16="http://schemas.microsoft.com/office/drawing/2014/main" id="{7CAF4A83-FE60-4ED6-A6C6-A09AE3E2C1A4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4C1EA4-CC1C-BB90-7924-A382EDBE1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517261"/>
            <a:ext cx="6780244" cy="50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6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5D818B57-5D87-D856-A177-BFA86CD9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>
            <a:extLst>
              <a:ext uri="{FF2B5EF4-FFF2-40B4-BE49-F238E27FC236}">
                <a16:creationId xmlns:a16="http://schemas.microsoft.com/office/drawing/2014/main" id="{0ED5C85C-3E3F-36C1-AE5B-E34AFFEEA3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 sz="1600" b="1">
                <a:solidFill>
                  <a:srgbClr val="333333"/>
                </a:solidFill>
              </a:rPr>
              <a:pPr/>
              <a:t>10</a:t>
            </a:fld>
            <a:r>
              <a:rPr lang="ru-RU" sz="1600" b="1">
                <a:solidFill>
                  <a:srgbClr val="333333"/>
                </a:solidFill>
              </a:rPr>
              <a:t> (из 13)</a:t>
            </a:r>
            <a:endParaRPr dirty="0"/>
          </a:p>
        </p:txBody>
      </p:sp>
      <p:cxnSp>
        <p:nvCxnSpPr>
          <p:cNvPr id="207" name="Google Shape;207;p10">
            <a:extLst>
              <a:ext uri="{FF2B5EF4-FFF2-40B4-BE49-F238E27FC236}">
                <a16:creationId xmlns:a16="http://schemas.microsoft.com/office/drawing/2014/main" id="{264A4073-AE58-FA27-40C5-6F8488C18E3E}"/>
              </a:ext>
            </a:extLst>
          </p:cNvPr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>
            <a:extLst>
              <a:ext uri="{FF2B5EF4-FFF2-40B4-BE49-F238E27FC236}">
                <a16:creationId xmlns:a16="http://schemas.microsoft.com/office/drawing/2014/main" id="{3C07FDD2-9C0B-6AD4-16CB-A9DF37C6C200}"/>
              </a:ext>
            </a:extLst>
          </p:cNvPr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>
            <a:extLst>
              <a:ext uri="{FF2B5EF4-FFF2-40B4-BE49-F238E27FC236}">
                <a16:creationId xmlns:a16="http://schemas.microsoft.com/office/drawing/2014/main" id="{25FA6880-E550-B833-D70F-8082D8A7F892}"/>
              </a:ext>
            </a:extLst>
          </p:cNvPr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Логическая модель данных Firestore: пользователи и система</a:t>
            </a:r>
            <a:r>
              <a:rPr lang="en-US" b="1" dirty="0">
                <a:solidFill>
                  <a:schemeClr val="accent4"/>
                </a:solidFill>
              </a:rPr>
              <a:t> (ER)</a:t>
            </a:r>
            <a:endParaRPr lang="ru-RU" b="1" dirty="0">
              <a:solidFill>
                <a:schemeClr val="accent4"/>
              </a:solidFill>
            </a:endParaRPr>
          </a:p>
        </p:txBody>
      </p:sp>
      <p:sp>
        <p:nvSpPr>
          <p:cNvPr id="19" name="Заголовок 2">
            <a:extLst>
              <a:ext uri="{FF2B5EF4-FFF2-40B4-BE49-F238E27FC236}">
                <a16:creationId xmlns:a16="http://schemas.microsoft.com/office/drawing/2014/main" id="{8CB53B54-7424-A506-EB3B-D0BEE4180117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037F34-77E2-9BE7-D854-4C998F24C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448468"/>
            <a:ext cx="6913851" cy="518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7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FF0000"/>
                </a:solidFill>
                <a:cs typeface="Arial"/>
              </a:rPr>
              <a:t>Заключение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В ходе выполнения выпускной квалификационной работы был разработан веб-сайт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Core. В процессе создания программного продукта были успешно выполнены этапы анализа, проектирования, разработки и тестирования, что позволило достичь соответствия поставленным целям и задачам.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Перспективы: </a:t>
            </a:r>
            <a:r>
              <a:rPr lang="ru-RU" altLang="ru-RU" sz="1800" dirty="0">
                <a:cs typeface="Arial"/>
              </a:rPr>
              <a:t>Планируется добавление Редактора Заклинаний, создание </a:t>
            </a:r>
            <a:r>
              <a:rPr lang="en-US" altLang="ru-RU" sz="1800" dirty="0">
                <a:cs typeface="Arial"/>
              </a:rPr>
              <a:t>Content Editor</a:t>
            </a:r>
            <a:r>
              <a:rPr lang="ru-RU" altLang="ru-RU" sz="1800" dirty="0">
                <a:cs typeface="Arial"/>
              </a:rPr>
              <a:t>, интеграция с </a:t>
            </a:r>
            <a:r>
              <a:rPr lang="en-US" altLang="ru-RU" sz="1800" dirty="0">
                <a:cs typeface="Arial"/>
              </a:rPr>
              <a:t>Telegram</a:t>
            </a:r>
            <a:r>
              <a:rPr lang="ru-RU" altLang="ru-RU" sz="1800" dirty="0">
                <a:cs typeface="Arial"/>
              </a:rPr>
              <a:t>, автоматические тесты. </a:t>
            </a: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 sz="1600" b="1">
                <a:solidFill>
                  <a:srgbClr val="333333"/>
                </a:solidFill>
              </a:rPr>
              <a:t>11</a:t>
            </a:fld>
            <a:r>
              <a:rPr lang="ru-RU" smtClean="0" sz="1600" b="1">
                <a:solidFill>
                  <a:srgbClr val="333333"/>
                </a:solidFill>
              </a:rPr>
              <a:t> (из 13)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CE39A-2B63-48BC-9AA8-7DF857F3B454}"/>
              </a:ext>
            </a:extLst>
          </p:cNvPr>
          <p:cNvSpPr txBox="1"/>
          <p:nvPr/>
        </p:nvSpPr>
        <p:spPr>
          <a:xfrm>
            <a:off x="755576" y="1916832"/>
            <a:ext cx="5713476" cy="1574017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dirty="0">
                <a:solidFill>
                  <a:schemeClr val="bg1"/>
                </a:solidFill>
                <a:latin typeface="+mn-lt"/>
              </a:rPr>
              <a:t>Разработка сайта для настольно-ролевой игры»</a:t>
            </a: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Автор: Гайдарь Максим Денисович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Студент группы 221-3711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Дипломный руководитель: </a:t>
            </a:r>
            <a:r>
              <a:rPr lang="ru-RU" sz="1400" dirty="0" err="1">
                <a:latin typeface="+mn-lt"/>
                <a:ea typeface="Times New Roman"/>
                <a:cs typeface="Times New Roman"/>
                <a:sym typeface="Times New Roman"/>
              </a:rPr>
              <a:t>Кандрашина</a:t>
            </a: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 М. А.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 sz="1600" b="1">
                <a:solidFill>
                  <a:srgbClr val="333333"/>
                </a:solidFill>
              </a:rPr>
              <a:pPr/>
              <a:t>13</a:t>
            </a:fld>
            <a:r>
              <a:rPr lang="ru-RU" sz="1600" b="1">
                <a:solidFill>
                  <a:srgbClr val="333333"/>
                </a:solidFill>
              </a:rPr>
              <a:t> (из 13)</a:t>
            </a:r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Демонстрация проекта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9" name="2026-05-14 18-52-41">
            <a:hlinkClick r:id="" action="ppaction://media"/>
            <a:extLst>
              <a:ext uri="{FF2B5EF4-FFF2-40B4-BE49-F238E27FC236}">
                <a16:creationId xmlns:a16="http://schemas.microsoft.com/office/drawing/2014/main" id="{5237BD0C-EDC5-41B8-8B19-89F03F8990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7767" y="1073723"/>
            <a:ext cx="8748465" cy="4921012"/>
          </a:xfrm>
          <a:prstGeom prst="rect">
            <a:avLst/>
          </a:prstGeom>
        </p:spPr>
      </p:pic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98370BD3-B472-4570-8542-16E50A2E5E8D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334302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1470</TotalTime>
  <Words>478</Words>
  <Application>Microsoft Office PowerPoint</Application>
  <PresentationFormat>Экран (4:3)</PresentationFormat>
  <Paragraphs>73</Paragraphs>
  <Slides>13</Slides>
  <Notes>13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Gilroy</vt:lpstr>
      <vt:lpstr>Gilroy Bold</vt:lpstr>
      <vt:lpstr>Gilroy SemiBold</vt:lpstr>
      <vt:lpstr>quote-cjk-patch</vt:lpstr>
      <vt:lpstr>Николаенко_ААИ-2015</vt:lpstr>
      <vt:lpstr>Презентация PowerPoint</vt:lpstr>
      <vt:lpstr>Актуальность и новизна</vt:lpstr>
      <vt:lpstr>Актуальность и новизна</vt:lpstr>
      <vt:lpstr>Цель и задачи</vt:lpstr>
      <vt:lpstr>Анализ конкурентов</vt:lpstr>
      <vt:lpstr>Функциональные возможности (Use Case)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Max Gaida</cp:lastModifiedBy>
  <cp:revision>159</cp:revision>
  <cp:lastPrinted>2016-06-06T19:02:34Z</cp:lastPrinted>
  <dcterms:created xsi:type="dcterms:W3CDTF">2015-04-17T11:13:20Z</dcterms:created>
  <dcterms:modified xsi:type="dcterms:W3CDTF">2026-06-15T23:48:11Z</dcterms:modified>
</cp:coreProperties>
</file>